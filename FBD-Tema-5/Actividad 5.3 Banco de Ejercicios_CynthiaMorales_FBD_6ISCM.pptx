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0" r:id="rId6"/>
    <p:sldId id="261" r:id="rId7"/>
    <p:sldId id="262" r:id="rId8"/>
    <p:sldId id="259" r:id="rId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100448-521D-371D-028B-0115367E25E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9B3273A-F2C0-7624-C538-2D765C1CD9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9FFAF41B-2A51-0E1E-8F9F-993DFA7B33AE}"/>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5" name="Marcador de pie de página 4">
            <a:extLst>
              <a:ext uri="{FF2B5EF4-FFF2-40B4-BE49-F238E27FC236}">
                <a16:creationId xmlns:a16="http://schemas.microsoft.com/office/drawing/2014/main" id="{08C73C8B-6BE9-2F83-FEBB-1F366E3A102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979A600-1B8E-F8B8-28E4-D916B874CA50}"/>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3063036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5663CF-1A9B-4766-9EA7-503A63785BB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0A68095-84A8-E966-6261-CFADF7E6B21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94D64088-038A-14C8-1D27-DEA64C891500}"/>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5" name="Marcador de pie de página 4">
            <a:extLst>
              <a:ext uri="{FF2B5EF4-FFF2-40B4-BE49-F238E27FC236}">
                <a16:creationId xmlns:a16="http://schemas.microsoft.com/office/drawing/2014/main" id="{EA0632F7-AF01-0E6D-ED21-0D42A49BD31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B287CBD-A5E4-7383-1D18-69B6320DFA5B}"/>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834425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43C15-65EE-E494-E9A9-87556EEED0C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18D12ECA-06C8-B027-2F9B-253F76AE209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0F38A16-13C8-263E-7A4B-0F218BE82FAE}"/>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5" name="Marcador de pie de página 4">
            <a:extLst>
              <a:ext uri="{FF2B5EF4-FFF2-40B4-BE49-F238E27FC236}">
                <a16:creationId xmlns:a16="http://schemas.microsoft.com/office/drawing/2014/main" id="{E3D38BC8-E0ED-7A70-0B86-2FA9D304DFC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06ABB5B-6AC2-BED2-5E8C-26C2902C303C}"/>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3538902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E24334-3ACD-3136-05DD-50BDCC7D9BB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74CD507-87E4-258D-89E6-6A96BA32EA1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D3031E0D-C898-2910-E526-6DF08345FE0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C4126099-478D-0B86-10C1-90F6CBC58416}"/>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6" name="Marcador de pie de página 5">
            <a:extLst>
              <a:ext uri="{FF2B5EF4-FFF2-40B4-BE49-F238E27FC236}">
                <a16:creationId xmlns:a16="http://schemas.microsoft.com/office/drawing/2014/main" id="{70882265-236A-DDDB-B2CB-6BFB2ADE6A5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99B9A01-B1F1-A911-8375-C50E0436DFC8}"/>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350383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DA6B6D-7664-492D-3EEC-30223A5053B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8B37B40-C31C-9979-6047-EA0CE2591B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10AC3604-5C62-5FAD-6DA9-7E05D47CD23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C2E73515-94B3-4715-6474-008124F4E1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177CC80-3B62-370D-204C-F85D48017DB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2CBB3905-AEBA-5C11-8285-AA91658C1416}"/>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8" name="Marcador de pie de página 7">
            <a:extLst>
              <a:ext uri="{FF2B5EF4-FFF2-40B4-BE49-F238E27FC236}">
                <a16:creationId xmlns:a16="http://schemas.microsoft.com/office/drawing/2014/main" id="{4820DCDB-74BD-71F0-B1B7-7E2C6B36A44B}"/>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A0F1EAF2-6C59-7636-4E26-5118DB9193A2}"/>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2745359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EFB174-34AF-3440-EA24-14DEFD1875B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3BAA79C8-79BD-655C-C397-0DB2108A4B17}"/>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4" name="Marcador de pie de página 3">
            <a:extLst>
              <a:ext uri="{FF2B5EF4-FFF2-40B4-BE49-F238E27FC236}">
                <a16:creationId xmlns:a16="http://schemas.microsoft.com/office/drawing/2014/main" id="{B2B24D64-F4DA-D20A-46A4-5B61599833D0}"/>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8FCE931-68F9-5F70-9760-BD4B5315B0EC}"/>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3219150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A11061AE-3CE8-6FA4-11DF-D05C85158A10}"/>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3" name="Marcador de pie de página 2">
            <a:extLst>
              <a:ext uri="{FF2B5EF4-FFF2-40B4-BE49-F238E27FC236}">
                <a16:creationId xmlns:a16="http://schemas.microsoft.com/office/drawing/2014/main" id="{A0DA8581-B6B8-D95C-CF36-3948194E88A3}"/>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8B36FF05-23A6-4639-0226-8AE562992412}"/>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1389799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F106C8-8EA1-609E-5733-1DDBF0242A0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5EEA994A-B171-BD8A-07B3-E247E82FCF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6C9EFFB3-7CD2-276F-541F-840BA56B87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38440B4-B688-1EEA-F5D5-D6C6E0FA3DBC}"/>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6" name="Marcador de pie de página 5">
            <a:extLst>
              <a:ext uri="{FF2B5EF4-FFF2-40B4-BE49-F238E27FC236}">
                <a16:creationId xmlns:a16="http://schemas.microsoft.com/office/drawing/2014/main" id="{894C303C-BCEB-E40F-2FAD-B933FAD56FE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20DF33B8-EC9F-3AD0-1B43-E807330575A4}"/>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4191807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5C32E1-80AA-AB9E-4B29-2CE7BEF10E8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CC1A0ED-513B-0EFE-F3DF-04A1AFF6E4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785FAB23-D2C5-F7F4-A1CB-1F28D68A3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FF4E3C-005B-AEFA-DD75-11ECCF9894B0}"/>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6" name="Marcador de pie de página 5">
            <a:extLst>
              <a:ext uri="{FF2B5EF4-FFF2-40B4-BE49-F238E27FC236}">
                <a16:creationId xmlns:a16="http://schemas.microsoft.com/office/drawing/2014/main" id="{31C2E6DE-CEC6-CC61-3431-D738A0BCD72A}"/>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02FBEEB-DF1A-9C4C-7623-4DCF8D4DE087}"/>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3269220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FAAA20-526B-5204-1D29-F9646449BCB9}"/>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9F20D80D-4502-A415-42A9-7A427B17CD3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6DDC3D4-6577-DB0F-AA8F-30C4B556482B}"/>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5" name="Marcador de pie de página 4">
            <a:extLst>
              <a:ext uri="{FF2B5EF4-FFF2-40B4-BE49-F238E27FC236}">
                <a16:creationId xmlns:a16="http://schemas.microsoft.com/office/drawing/2014/main" id="{1C250303-BB9A-A56C-1B6A-05DFD85DDA64}"/>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F9BEF45-2295-9402-874E-10AFF885E13A}"/>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219436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CD8695B-CB1D-5600-F814-7A33FFF28E7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58D28D57-BEE1-4496-C939-E96A8E0FEF3F}"/>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BDB1C3C-4DD4-B3FC-4585-EF6655578C62}"/>
              </a:ext>
            </a:extLst>
          </p:cNvPr>
          <p:cNvSpPr>
            <a:spLocks noGrp="1"/>
          </p:cNvSpPr>
          <p:nvPr>
            <p:ph type="dt" sz="half" idx="10"/>
          </p:nvPr>
        </p:nvSpPr>
        <p:spPr/>
        <p:txBody>
          <a:bodyPr/>
          <a:lstStyle/>
          <a:p>
            <a:fld id="{2FFCA749-0A59-4814-8C00-6C676F04CE7F}" type="datetimeFigureOut">
              <a:rPr lang="es-MX" smtClean="0"/>
              <a:t>15/06/2026</a:t>
            </a:fld>
            <a:endParaRPr lang="es-MX"/>
          </a:p>
        </p:txBody>
      </p:sp>
      <p:sp>
        <p:nvSpPr>
          <p:cNvPr id="5" name="Marcador de pie de página 4">
            <a:extLst>
              <a:ext uri="{FF2B5EF4-FFF2-40B4-BE49-F238E27FC236}">
                <a16:creationId xmlns:a16="http://schemas.microsoft.com/office/drawing/2014/main" id="{F430A7E9-219F-7775-FCE3-35FDB680EC7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A15DA05-195B-D795-B84A-0B786B588D4C}"/>
              </a:ext>
            </a:extLst>
          </p:cNvPr>
          <p:cNvSpPr>
            <a:spLocks noGrp="1"/>
          </p:cNvSpPr>
          <p:nvPr>
            <p:ph type="sldNum" sz="quarter" idx="12"/>
          </p:nvPr>
        </p:nvSpPr>
        <p:spPr/>
        <p:txBody>
          <a:bodyPr/>
          <a:lstStyle/>
          <a:p>
            <a:fld id="{4D1BC6F6-7121-4878-8B2D-10BD25956B0E}" type="slidenum">
              <a:rPr lang="es-MX" smtClean="0"/>
              <a:t>‹Nº›</a:t>
            </a:fld>
            <a:endParaRPr lang="es-MX"/>
          </a:p>
        </p:txBody>
      </p:sp>
    </p:spTree>
    <p:extLst>
      <p:ext uri="{BB962C8B-B14F-4D97-AF65-F5344CB8AC3E}">
        <p14:creationId xmlns:p14="http://schemas.microsoft.com/office/powerpoint/2010/main" val="33404562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2E85AD0-DDD9-9E01-34F9-C81ECF3567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85D4F8E-D40F-C630-C38A-1147F75C8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B638FC5-0748-F6A8-551F-8EC4D973E8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FCA749-0A59-4814-8C00-6C676F04CE7F}" type="datetimeFigureOut">
              <a:rPr lang="es-MX" smtClean="0"/>
              <a:t>15/06/2026</a:t>
            </a:fld>
            <a:endParaRPr lang="es-MX"/>
          </a:p>
        </p:txBody>
      </p:sp>
      <p:sp>
        <p:nvSpPr>
          <p:cNvPr id="5" name="Marcador de pie de página 4">
            <a:extLst>
              <a:ext uri="{FF2B5EF4-FFF2-40B4-BE49-F238E27FC236}">
                <a16:creationId xmlns:a16="http://schemas.microsoft.com/office/drawing/2014/main" id="{178FA6FE-79D8-C518-3127-24CA1AEF2B8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0E56BD94-15F8-235B-A009-7A4E7BFFC1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1BC6F6-7121-4878-8B2D-10BD25956B0E}" type="slidenum">
              <a:rPr lang="es-MX" smtClean="0"/>
              <a:t>‹Nº›</a:t>
            </a:fld>
            <a:endParaRPr lang="es-MX"/>
          </a:p>
        </p:txBody>
      </p:sp>
    </p:spTree>
    <p:extLst>
      <p:ext uri="{BB962C8B-B14F-4D97-AF65-F5344CB8AC3E}">
        <p14:creationId xmlns:p14="http://schemas.microsoft.com/office/powerpoint/2010/main" val="4054108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9">
            <a:extLst>
              <a:ext uri="{FF2B5EF4-FFF2-40B4-BE49-F238E27FC236}">
                <a16:creationId xmlns:a16="http://schemas.microsoft.com/office/drawing/2014/main" id="{16F1F2A9-5520-BB34-86AB-25CB7FD7B6B4}"/>
              </a:ext>
            </a:extLst>
          </p:cNvPr>
          <p:cNvSpPr txBox="1"/>
          <p:nvPr/>
        </p:nvSpPr>
        <p:spPr>
          <a:xfrm>
            <a:off x="2402908" y="1880767"/>
            <a:ext cx="7644625" cy="4924425"/>
          </a:xfrm>
          <a:prstGeom prst="rect">
            <a:avLst/>
          </a:prstGeom>
        </p:spPr>
        <p:txBody>
          <a:bodyPr wrap="square" lIns="0" tIns="0" rIns="0" bIns="0" rtlCol="0" anchor="t">
            <a:spAutoFit/>
          </a:bodyPr>
          <a:lstStyle/>
          <a:p>
            <a:pPr algn="ctr"/>
            <a:r>
              <a:rPr lang="en-US" sz="1600" dirty="0">
                <a:solidFill>
                  <a:srgbClr val="000000"/>
                </a:solidFill>
                <a:latin typeface="Century Gothic" panose="020B0502020202020204" pitchFamily="34" charset="0"/>
                <a:ea typeface="Glacial Indifference"/>
                <a:cs typeface="Glacial Indifference"/>
                <a:sym typeface="Glacial Indifference"/>
              </a:rPr>
              <a:t>Materia:</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r>
              <a:rPr lang="en-US" sz="1600" dirty="0" err="1">
                <a:solidFill>
                  <a:srgbClr val="000000"/>
                </a:solidFill>
                <a:latin typeface="Century Gothic" panose="020B0502020202020204" pitchFamily="34" charset="0"/>
                <a:ea typeface="Glacial Indifference"/>
                <a:cs typeface="Glacial Indifference"/>
                <a:sym typeface="Glacial Indifference"/>
              </a:rPr>
              <a:t>Fundamentos</a:t>
            </a:r>
            <a:r>
              <a:rPr lang="en-US" sz="1600" dirty="0">
                <a:solidFill>
                  <a:srgbClr val="000000"/>
                </a:solidFill>
                <a:latin typeface="Century Gothic" panose="020B0502020202020204" pitchFamily="34" charset="0"/>
                <a:ea typeface="Glacial Indifference"/>
                <a:cs typeface="Glacial Indifference"/>
                <a:sym typeface="Glacial Indifference"/>
              </a:rPr>
              <a:t> de base de </a:t>
            </a:r>
            <a:r>
              <a:rPr lang="en-US" sz="1600" dirty="0" err="1">
                <a:solidFill>
                  <a:srgbClr val="000000"/>
                </a:solidFill>
                <a:latin typeface="Century Gothic" panose="020B0502020202020204" pitchFamily="34" charset="0"/>
                <a:ea typeface="Glacial Indifference"/>
                <a:cs typeface="Glacial Indifference"/>
                <a:sym typeface="Glacial Indifference"/>
              </a:rPr>
              <a:t>datos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Semestre: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Sexto </a:t>
            </a:r>
            <a:r>
              <a:rPr lang="en-US" sz="1600" dirty="0" err="1">
                <a:solidFill>
                  <a:srgbClr val="000000"/>
                </a:solidFill>
                <a:latin typeface="Century Gothic" panose="020B0502020202020204" pitchFamily="34" charset="0"/>
                <a:ea typeface="Glacial Indifference"/>
                <a:cs typeface="Glacial Indifference"/>
                <a:sym typeface="Glacial Indifference"/>
              </a:rPr>
              <a:t>semestre</a:t>
            </a: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Especialidad:</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Ingeniería en Sistemas Computacionales.</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alumno:</a:t>
            </a:r>
          </a:p>
          <a:p>
            <a:pPr algn="ctr"/>
            <a:r>
              <a:rPr lang="en-US" sz="1600" b="1" dirty="0">
                <a:solidFill>
                  <a:srgbClr val="000000"/>
                </a:solidFill>
                <a:latin typeface="Century Gothic" panose="020B0502020202020204" pitchFamily="34" charset="0"/>
                <a:ea typeface="Glacial Indifference"/>
                <a:cs typeface="Glacial Indifference"/>
                <a:sym typeface="Glacial Indifference"/>
              </a:rPr>
              <a:t> Cynthia Jasmine Morales Torres / 231260014</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Nombre del docente: </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Ing. Francisco Javier Mingo Velazquez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Nombre del trabajo:</a:t>
            </a: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5.3 Banco de </a:t>
            </a:r>
            <a:r>
              <a:rPr lang="en-US" sz="1600" dirty="0" err="1">
                <a:solidFill>
                  <a:srgbClr val="000000"/>
                </a:solidFill>
                <a:latin typeface="Century Gothic" panose="020B0502020202020204" pitchFamily="34" charset="0"/>
                <a:ea typeface="Glacial Indifference"/>
                <a:cs typeface="Glacial Indifference"/>
                <a:sym typeface="Glacial Indifference"/>
              </a:rPr>
              <a:t>ejercicios</a:t>
            </a: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a:t>
            </a:r>
          </a:p>
          <a:p>
            <a:pPr algn="ctr"/>
            <a:endParaRPr lang="en-US" sz="1600" dirty="0">
              <a:solidFill>
                <a:srgbClr val="000000"/>
              </a:solidFill>
              <a:latin typeface="Century Gothic" panose="020B0502020202020204" pitchFamily="34" charset="0"/>
              <a:ea typeface="Glacial Indifference"/>
              <a:cs typeface="Glacial Indifference"/>
              <a:sym typeface="Glacial Indifference"/>
            </a:endParaRPr>
          </a:p>
          <a:p>
            <a:pPr algn="ctr"/>
            <a:r>
              <a:rPr lang="en-US" sz="1600" dirty="0">
                <a:solidFill>
                  <a:srgbClr val="000000"/>
                </a:solidFill>
                <a:latin typeface="Century Gothic" panose="020B0502020202020204" pitchFamily="34" charset="0"/>
                <a:ea typeface="Glacial Indifference"/>
                <a:cs typeface="Glacial Indifference"/>
                <a:sym typeface="Glacial Indifference"/>
              </a:rPr>
              <a:t> Frontera Comalapa, Chiapas. A 11 de </a:t>
            </a:r>
            <a:r>
              <a:rPr lang="en-US" sz="1600" dirty="0" err="1">
                <a:solidFill>
                  <a:srgbClr val="000000"/>
                </a:solidFill>
                <a:latin typeface="Century Gothic" panose="020B0502020202020204" pitchFamily="34" charset="0"/>
                <a:ea typeface="Glacial Indifference"/>
                <a:cs typeface="Glacial Indifference"/>
                <a:sym typeface="Glacial Indifference"/>
              </a:rPr>
              <a:t>junio</a:t>
            </a:r>
            <a:r>
              <a:rPr lang="en-US" sz="1600" dirty="0">
                <a:solidFill>
                  <a:srgbClr val="000000"/>
                </a:solidFill>
                <a:latin typeface="Century Gothic" panose="020B0502020202020204" pitchFamily="34" charset="0"/>
                <a:ea typeface="Glacial Indifference"/>
                <a:cs typeface="Glacial Indifference"/>
                <a:sym typeface="Glacial Indifference"/>
              </a:rPr>
              <a:t> del 2026</a:t>
            </a:r>
          </a:p>
        </p:txBody>
      </p:sp>
      <p:sp>
        <p:nvSpPr>
          <p:cNvPr id="5" name="TextBox 8">
            <a:extLst>
              <a:ext uri="{FF2B5EF4-FFF2-40B4-BE49-F238E27FC236}">
                <a16:creationId xmlns:a16="http://schemas.microsoft.com/office/drawing/2014/main" id="{D15BAEEC-5443-C19F-CE10-19773FA8F2DA}"/>
              </a:ext>
            </a:extLst>
          </p:cNvPr>
          <p:cNvSpPr txBox="1"/>
          <p:nvPr/>
        </p:nvSpPr>
        <p:spPr>
          <a:xfrm>
            <a:off x="2046984" y="997338"/>
            <a:ext cx="8356475" cy="709233"/>
          </a:xfrm>
          <a:prstGeom prst="rect">
            <a:avLst/>
          </a:prstGeom>
        </p:spPr>
        <p:txBody>
          <a:bodyPr wrap="square" lIns="0" tIns="0" rIns="0" bIns="0" rtlCol="0" anchor="t">
            <a:spAutoFit/>
          </a:bodyPr>
          <a:lstStyle/>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Instituto Tecnológico de Frontera Comalapa </a:t>
            </a:r>
          </a:p>
          <a:p>
            <a:pPr algn="ctr">
              <a:lnSpc>
                <a:spcPts val="2908"/>
              </a:lnSpc>
            </a:pPr>
            <a:r>
              <a:rPr lang="en-US" sz="1600" b="1" dirty="0">
                <a:solidFill>
                  <a:srgbClr val="000000"/>
                </a:solidFill>
                <a:latin typeface="Century Gothic" panose="020B0502020202020204" pitchFamily="34" charset="0"/>
                <a:ea typeface="Glacial Indifference"/>
                <a:cs typeface="Glacial Indifference"/>
                <a:sym typeface="Glacial Indifference"/>
              </a:rPr>
              <a:t>Modalidad Mixta</a:t>
            </a:r>
          </a:p>
        </p:txBody>
      </p:sp>
      <p:grpSp>
        <p:nvGrpSpPr>
          <p:cNvPr id="6" name="Group 2">
            <a:extLst>
              <a:ext uri="{FF2B5EF4-FFF2-40B4-BE49-F238E27FC236}">
                <a16:creationId xmlns:a16="http://schemas.microsoft.com/office/drawing/2014/main" id="{00DCF769-80C7-43B4-3601-D992CD0083B3}"/>
              </a:ext>
            </a:extLst>
          </p:cNvPr>
          <p:cNvGrpSpPr/>
          <p:nvPr/>
        </p:nvGrpSpPr>
        <p:grpSpPr>
          <a:xfrm>
            <a:off x="817249" y="31119"/>
            <a:ext cx="2709599" cy="1198176"/>
            <a:chOff x="0" y="0"/>
            <a:chExt cx="3073400" cy="1308100"/>
          </a:xfrm>
        </p:grpSpPr>
        <p:sp>
          <p:nvSpPr>
            <p:cNvPr id="7" name="Freeform 3">
              <a:extLst>
                <a:ext uri="{FF2B5EF4-FFF2-40B4-BE49-F238E27FC236}">
                  <a16:creationId xmlns:a16="http://schemas.microsoft.com/office/drawing/2014/main" id="{6A8BA94A-0889-DA81-5B34-8420856AD71A}"/>
                </a:ext>
              </a:extLst>
            </p:cNvPr>
            <p:cNvSpPr/>
            <p:nvPr/>
          </p:nvSpPr>
          <p:spPr>
            <a:xfrm>
              <a:off x="0" y="0"/>
              <a:ext cx="3073400" cy="1308100"/>
            </a:xfrm>
            <a:custGeom>
              <a:avLst/>
              <a:gdLst/>
              <a:ahLst/>
              <a:cxnLst/>
              <a:rect l="l" t="t" r="r" b="b"/>
              <a:pathLst>
                <a:path w="3073400" h="1308100">
                  <a:moveTo>
                    <a:pt x="0" y="0"/>
                  </a:moveTo>
                  <a:lnTo>
                    <a:pt x="3073400" y="0"/>
                  </a:lnTo>
                  <a:lnTo>
                    <a:pt x="3073400" y="1308100"/>
                  </a:lnTo>
                  <a:lnTo>
                    <a:pt x="0" y="1308100"/>
                  </a:lnTo>
                  <a:lnTo>
                    <a:pt x="0" y="0"/>
                  </a:lnTo>
                  <a:close/>
                </a:path>
              </a:pathLst>
            </a:custGeom>
            <a:blipFill>
              <a:blip r:embed="rId2"/>
              <a:stretch>
                <a:fillRect/>
              </a:stretch>
            </a:blipFill>
          </p:spPr>
        </p:sp>
      </p:grpSp>
      <p:grpSp>
        <p:nvGrpSpPr>
          <p:cNvPr id="8" name="Group 4">
            <a:extLst>
              <a:ext uri="{FF2B5EF4-FFF2-40B4-BE49-F238E27FC236}">
                <a16:creationId xmlns:a16="http://schemas.microsoft.com/office/drawing/2014/main" id="{45F843F1-1D98-BFCE-4AC3-DB1B61DEF710}"/>
              </a:ext>
            </a:extLst>
          </p:cNvPr>
          <p:cNvGrpSpPr/>
          <p:nvPr/>
        </p:nvGrpSpPr>
        <p:grpSpPr>
          <a:xfrm>
            <a:off x="9481236" y="106714"/>
            <a:ext cx="1872270" cy="1245240"/>
            <a:chOff x="0" y="0"/>
            <a:chExt cx="1981200" cy="1625600"/>
          </a:xfrm>
        </p:grpSpPr>
        <p:sp>
          <p:nvSpPr>
            <p:cNvPr id="9" name="Freeform 5">
              <a:extLst>
                <a:ext uri="{FF2B5EF4-FFF2-40B4-BE49-F238E27FC236}">
                  <a16:creationId xmlns:a16="http://schemas.microsoft.com/office/drawing/2014/main" id="{19975232-FC8D-4784-9E51-EA0E83195D54}"/>
                </a:ext>
              </a:extLst>
            </p:cNvPr>
            <p:cNvSpPr/>
            <p:nvPr/>
          </p:nvSpPr>
          <p:spPr>
            <a:xfrm>
              <a:off x="0" y="0"/>
              <a:ext cx="1981200" cy="1625600"/>
            </a:xfrm>
            <a:custGeom>
              <a:avLst/>
              <a:gdLst/>
              <a:ahLst/>
              <a:cxnLst/>
              <a:rect l="l" t="t" r="r" b="b"/>
              <a:pathLst>
                <a:path w="1981200" h="1625600">
                  <a:moveTo>
                    <a:pt x="0" y="0"/>
                  </a:moveTo>
                  <a:lnTo>
                    <a:pt x="1981200" y="0"/>
                  </a:lnTo>
                  <a:lnTo>
                    <a:pt x="1981200" y="1625600"/>
                  </a:lnTo>
                  <a:lnTo>
                    <a:pt x="0" y="1625600"/>
                  </a:lnTo>
                  <a:lnTo>
                    <a:pt x="0" y="0"/>
                  </a:lnTo>
                  <a:close/>
                </a:path>
              </a:pathLst>
            </a:custGeom>
            <a:blipFill>
              <a:blip r:embed="rId3"/>
              <a:stretch>
                <a:fillRect/>
              </a:stretch>
            </a:blipFill>
          </p:spPr>
        </p:sp>
      </p:grpSp>
      <p:grpSp>
        <p:nvGrpSpPr>
          <p:cNvPr id="10" name="Group 6">
            <a:extLst>
              <a:ext uri="{FF2B5EF4-FFF2-40B4-BE49-F238E27FC236}">
                <a16:creationId xmlns:a16="http://schemas.microsoft.com/office/drawing/2014/main" id="{310F0D05-F0C4-CB17-002A-6844C1DF1B3C}"/>
              </a:ext>
            </a:extLst>
          </p:cNvPr>
          <p:cNvGrpSpPr/>
          <p:nvPr/>
        </p:nvGrpSpPr>
        <p:grpSpPr>
          <a:xfrm>
            <a:off x="4307929" y="269788"/>
            <a:ext cx="3812814" cy="709234"/>
            <a:chOff x="0" y="0"/>
            <a:chExt cx="4343400" cy="901700"/>
          </a:xfrm>
        </p:grpSpPr>
        <p:sp>
          <p:nvSpPr>
            <p:cNvPr id="11" name="Freeform 7">
              <a:extLst>
                <a:ext uri="{FF2B5EF4-FFF2-40B4-BE49-F238E27FC236}">
                  <a16:creationId xmlns:a16="http://schemas.microsoft.com/office/drawing/2014/main" id="{EBC32F84-F55E-EBE6-8E52-7E9CD34034D1}"/>
                </a:ext>
              </a:extLst>
            </p:cNvPr>
            <p:cNvSpPr/>
            <p:nvPr/>
          </p:nvSpPr>
          <p:spPr>
            <a:xfrm>
              <a:off x="0" y="0"/>
              <a:ext cx="4343400" cy="901700"/>
            </a:xfrm>
            <a:custGeom>
              <a:avLst/>
              <a:gdLst/>
              <a:ahLst/>
              <a:cxnLst/>
              <a:rect l="l" t="t" r="r" b="b"/>
              <a:pathLst>
                <a:path w="4343400" h="901700">
                  <a:moveTo>
                    <a:pt x="0" y="0"/>
                  </a:moveTo>
                  <a:lnTo>
                    <a:pt x="4343400" y="0"/>
                  </a:lnTo>
                  <a:lnTo>
                    <a:pt x="4343400" y="901700"/>
                  </a:lnTo>
                  <a:lnTo>
                    <a:pt x="0" y="901700"/>
                  </a:lnTo>
                  <a:lnTo>
                    <a:pt x="0" y="0"/>
                  </a:lnTo>
                  <a:close/>
                </a:path>
              </a:pathLst>
            </a:custGeom>
            <a:blipFill>
              <a:blip r:embed="rId4"/>
              <a:stretch>
                <a:fillRect/>
              </a:stretch>
            </a:blipFill>
          </p:spPr>
        </p:sp>
      </p:grpSp>
    </p:spTree>
    <p:extLst>
      <p:ext uri="{BB962C8B-B14F-4D97-AF65-F5344CB8AC3E}">
        <p14:creationId xmlns:p14="http://schemas.microsoft.com/office/powerpoint/2010/main" val="353949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039FF9-0C60-CF02-EA57-5A4C12594E82}"/>
              </a:ext>
            </a:extLst>
          </p:cNvPr>
          <p:cNvSpPr>
            <a:spLocks noGrp="1"/>
          </p:cNvSpPr>
          <p:nvPr>
            <p:ph type="title"/>
          </p:nvPr>
        </p:nvSpPr>
        <p:spPr/>
        <p:txBody>
          <a:bodyPr/>
          <a:lstStyle/>
          <a:p>
            <a:r>
              <a:rPr lang="es-MX" dirty="0"/>
              <a:t>Introducción </a:t>
            </a:r>
          </a:p>
        </p:txBody>
      </p:sp>
      <p:sp>
        <p:nvSpPr>
          <p:cNvPr id="3" name="Marcador de contenido 2">
            <a:extLst>
              <a:ext uri="{FF2B5EF4-FFF2-40B4-BE49-F238E27FC236}">
                <a16:creationId xmlns:a16="http://schemas.microsoft.com/office/drawing/2014/main" id="{48336E47-F498-2C68-F978-27A8527D1D6E}"/>
              </a:ext>
            </a:extLst>
          </p:cNvPr>
          <p:cNvSpPr>
            <a:spLocks noGrp="1"/>
          </p:cNvSpPr>
          <p:nvPr>
            <p:ph idx="1"/>
          </p:nvPr>
        </p:nvSpPr>
        <p:spPr/>
        <p:txBody>
          <a:bodyPr/>
          <a:lstStyle/>
          <a:p>
            <a:pPr marL="0" indent="0">
              <a:buNone/>
            </a:pPr>
            <a:r>
              <a:rPr lang="es-MX" dirty="0"/>
              <a:t>En el presente banco de ejercicios se desarrolló una base de datos para la clínica veterinaria Patitas Felices utilizando PostgreSQL. Se realizaron actividades relacionadas con la creación de tablas, establecimiento de relaciones, inserción de registros y consultas SQL, permitiendo fortalecer los conocimientos sobre bases de datos relacionales.</a:t>
            </a:r>
          </a:p>
        </p:txBody>
      </p:sp>
    </p:spTree>
    <p:extLst>
      <p:ext uri="{BB962C8B-B14F-4D97-AF65-F5344CB8AC3E}">
        <p14:creationId xmlns:p14="http://schemas.microsoft.com/office/powerpoint/2010/main" val="3290955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39DECD-D264-0297-DEBC-06FDEA7524FD}"/>
              </a:ext>
            </a:extLst>
          </p:cNvPr>
          <p:cNvSpPr>
            <a:spLocks noGrp="1"/>
          </p:cNvSpPr>
          <p:nvPr>
            <p:ph type="title"/>
          </p:nvPr>
        </p:nvSpPr>
        <p:spPr/>
        <p:txBody>
          <a:bodyPr/>
          <a:lstStyle/>
          <a:p>
            <a:r>
              <a:rPr lang="es-MX" dirty="0"/>
              <a:t>Justificación </a:t>
            </a:r>
          </a:p>
        </p:txBody>
      </p:sp>
      <p:sp>
        <p:nvSpPr>
          <p:cNvPr id="3" name="Marcador de contenido 2">
            <a:extLst>
              <a:ext uri="{FF2B5EF4-FFF2-40B4-BE49-F238E27FC236}">
                <a16:creationId xmlns:a16="http://schemas.microsoft.com/office/drawing/2014/main" id="{64613FDE-8BD3-2876-406E-68B3BC06D1C0}"/>
              </a:ext>
            </a:extLst>
          </p:cNvPr>
          <p:cNvSpPr>
            <a:spLocks noGrp="1"/>
          </p:cNvSpPr>
          <p:nvPr>
            <p:ph idx="1"/>
          </p:nvPr>
        </p:nvSpPr>
        <p:spPr/>
        <p:txBody>
          <a:bodyPr/>
          <a:lstStyle/>
          <a:p>
            <a:pPr marL="0" indent="0">
              <a:buNone/>
            </a:pPr>
            <a:r>
              <a:rPr lang="es-MX" dirty="0"/>
              <a:t>La realización de este banco de ejercicios permitió aplicar los conocimientos adquiridos sobre el diseño y administración de bases de datos. Mediante la implementación de una clínica veterinaria fue posible organizar información relacionada con dueños, mascotas, veterinarios, medicamentos, consultas y tratamientos, facilitando la gestión de los datos.</a:t>
            </a:r>
          </a:p>
        </p:txBody>
      </p:sp>
    </p:spTree>
    <p:extLst>
      <p:ext uri="{BB962C8B-B14F-4D97-AF65-F5344CB8AC3E}">
        <p14:creationId xmlns:p14="http://schemas.microsoft.com/office/powerpoint/2010/main" val="3688941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0F4FD-F963-A577-A22D-92B512ECA024}"/>
              </a:ext>
            </a:extLst>
          </p:cNvPr>
          <p:cNvSpPr>
            <a:spLocks noGrp="1"/>
          </p:cNvSpPr>
          <p:nvPr>
            <p:ph type="title"/>
          </p:nvPr>
        </p:nvSpPr>
        <p:spPr/>
        <p:txBody>
          <a:bodyPr/>
          <a:lstStyle/>
          <a:p>
            <a:r>
              <a:rPr lang="es-MX" dirty="0" err="1"/>
              <a:t>Creacion</a:t>
            </a:r>
            <a:r>
              <a:rPr lang="es-MX" dirty="0"/>
              <a:t> de la base de datos </a:t>
            </a:r>
          </a:p>
        </p:txBody>
      </p:sp>
      <p:sp>
        <p:nvSpPr>
          <p:cNvPr id="5" name="CuadroTexto 4">
            <a:extLst>
              <a:ext uri="{FF2B5EF4-FFF2-40B4-BE49-F238E27FC236}">
                <a16:creationId xmlns:a16="http://schemas.microsoft.com/office/drawing/2014/main" id="{0C062C33-D22F-0FB2-BFD6-F6AB18AD4734}"/>
              </a:ext>
            </a:extLst>
          </p:cNvPr>
          <p:cNvSpPr txBox="1"/>
          <p:nvPr/>
        </p:nvSpPr>
        <p:spPr>
          <a:xfrm>
            <a:off x="6183086" y="2447837"/>
            <a:ext cx="6096000" cy="1200329"/>
          </a:xfrm>
          <a:prstGeom prst="rect">
            <a:avLst/>
          </a:prstGeom>
          <a:noFill/>
        </p:spPr>
        <p:txBody>
          <a:bodyPr wrap="square">
            <a:spAutoFit/>
          </a:bodyPr>
          <a:lstStyle/>
          <a:p>
            <a:r>
              <a:rPr lang="es-MX" dirty="0"/>
              <a:t>Como primer paso se creó la base de datos denominada </a:t>
            </a:r>
            <a:r>
              <a:rPr lang="es-MX" dirty="0" err="1"/>
              <a:t>VeterinariaPatitasFelices</a:t>
            </a:r>
            <a:r>
              <a:rPr lang="es-MX" dirty="0"/>
              <a:t>, la cual servirá como contenedor principal para almacenar toda la información relacionada con los servicios ofrecidos por la clínica veterinaria.</a:t>
            </a:r>
          </a:p>
        </p:txBody>
      </p:sp>
      <p:pic>
        <p:nvPicPr>
          <p:cNvPr id="6" name="Marcador de contenido 4">
            <a:extLst>
              <a:ext uri="{FF2B5EF4-FFF2-40B4-BE49-F238E27FC236}">
                <a16:creationId xmlns:a16="http://schemas.microsoft.com/office/drawing/2014/main" id="{419F61F7-3784-9B49-A737-F4A032D71313}"/>
              </a:ext>
            </a:extLst>
          </p:cNvPr>
          <p:cNvPicPr>
            <a:picLocks noGrp="1" noChangeAspect="1"/>
          </p:cNvPicPr>
          <p:nvPr>
            <p:ph idx="1"/>
          </p:nvPr>
        </p:nvPicPr>
        <p:blipFill>
          <a:blip r:embed="rId2"/>
          <a:stretch>
            <a:fillRect/>
          </a:stretch>
        </p:blipFill>
        <p:spPr>
          <a:xfrm>
            <a:off x="595154" y="1690688"/>
            <a:ext cx="5500846" cy="4351338"/>
          </a:xfrm>
        </p:spPr>
      </p:pic>
    </p:spTree>
    <p:extLst>
      <p:ext uri="{BB962C8B-B14F-4D97-AF65-F5344CB8AC3E}">
        <p14:creationId xmlns:p14="http://schemas.microsoft.com/office/powerpoint/2010/main" val="1516174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544888-B114-3030-7815-34C420EDBB08}"/>
              </a:ext>
            </a:extLst>
          </p:cNvPr>
          <p:cNvSpPr>
            <a:spLocks noGrp="1"/>
          </p:cNvSpPr>
          <p:nvPr>
            <p:ph type="title"/>
          </p:nvPr>
        </p:nvSpPr>
        <p:spPr/>
        <p:txBody>
          <a:bodyPr/>
          <a:lstStyle/>
          <a:p>
            <a:r>
              <a:rPr lang="es-MX" dirty="0"/>
              <a:t>Relaciones </a:t>
            </a:r>
          </a:p>
        </p:txBody>
      </p:sp>
      <p:pic>
        <p:nvPicPr>
          <p:cNvPr id="9" name="Imagen 8">
            <a:extLst>
              <a:ext uri="{FF2B5EF4-FFF2-40B4-BE49-F238E27FC236}">
                <a16:creationId xmlns:a16="http://schemas.microsoft.com/office/drawing/2014/main" id="{60C0DA7C-57E7-2746-BFB1-85B99B2EE05A}"/>
              </a:ext>
            </a:extLst>
          </p:cNvPr>
          <p:cNvPicPr>
            <a:picLocks noChangeAspect="1"/>
          </p:cNvPicPr>
          <p:nvPr/>
        </p:nvPicPr>
        <p:blipFill>
          <a:blip r:embed="rId2"/>
          <a:stretch>
            <a:fillRect/>
          </a:stretch>
        </p:blipFill>
        <p:spPr>
          <a:xfrm>
            <a:off x="722001" y="2336744"/>
            <a:ext cx="3302170" cy="1092256"/>
          </a:xfrm>
          <a:prstGeom prst="rect">
            <a:avLst/>
          </a:prstGeom>
        </p:spPr>
      </p:pic>
      <p:pic>
        <p:nvPicPr>
          <p:cNvPr id="11" name="Imagen 10">
            <a:extLst>
              <a:ext uri="{FF2B5EF4-FFF2-40B4-BE49-F238E27FC236}">
                <a16:creationId xmlns:a16="http://schemas.microsoft.com/office/drawing/2014/main" id="{A6A9E10A-63B8-2B63-0D97-E85767298B19}"/>
              </a:ext>
            </a:extLst>
          </p:cNvPr>
          <p:cNvPicPr>
            <a:picLocks noChangeAspect="1"/>
          </p:cNvPicPr>
          <p:nvPr/>
        </p:nvPicPr>
        <p:blipFill>
          <a:blip r:embed="rId3"/>
          <a:stretch>
            <a:fillRect/>
          </a:stretch>
        </p:blipFill>
        <p:spPr>
          <a:xfrm>
            <a:off x="629462" y="3522577"/>
            <a:ext cx="3683189" cy="1104957"/>
          </a:xfrm>
          <a:prstGeom prst="rect">
            <a:avLst/>
          </a:prstGeom>
        </p:spPr>
      </p:pic>
      <p:pic>
        <p:nvPicPr>
          <p:cNvPr id="13" name="Imagen 12">
            <a:extLst>
              <a:ext uri="{FF2B5EF4-FFF2-40B4-BE49-F238E27FC236}">
                <a16:creationId xmlns:a16="http://schemas.microsoft.com/office/drawing/2014/main" id="{C5072248-8406-0B08-A09D-BF678F9A5385}"/>
              </a:ext>
            </a:extLst>
          </p:cNvPr>
          <p:cNvPicPr>
            <a:picLocks noChangeAspect="1"/>
          </p:cNvPicPr>
          <p:nvPr/>
        </p:nvPicPr>
        <p:blipFill>
          <a:blip r:embed="rId4"/>
          <a:stretch>
            <a:fillRect/>
          </a:stretch>
        </p:blipFill>
        <p:spPr>
          <a:xfrm>
            <a:off x="629462" y="4686184"/>
            <a:ext cx="4311872" cy="1149409"/>
          </a:xfrm>
          <a:prstGeom prst="rect">
            <a:avLst/>
          </a:prstGeom>
        </p:spPr>
      </p:pic>
      <p:pic>
        <p:nvPicPr>
          <p:cNvPr id="15" name="Imagen 14">
            <a:extLst>
              <a:ext uri="{FF2B5EF4-FFF2-40B4-BE49-F238E27FC236}">
                <a16:creationId xmlns:a16="http://schemas.microsoft.com/office/drawing/2014/main" id="{99D2B2B5-0B9C-0458-F435-6E62729B2B4B}"/>
              </a:ext>
            </a:extLst>
          </p:cNvPr>
          <p:cNvPicPr>
            <a:picLocks noChangeAspect="1"/>
          </p:cNvPicPr>
          <p:nvPr/>
        </p:nvPicPr>
        <p:blipFill>
          <a:blip r:embed="rId5"/>
          <a:stretch>
            <a:fillRect/>
          </a:stretch>
        </p:blipFill>
        <p:spPr>
          <a:xfrm>
            <a:off x="705666" y="1307991"/>
            <a:ext cx="4159464" cy="1028753"/>
          </a:xfrm>
          <a:prstGeom prst="rect">
            <a:avLst/>
          </a:prstGeom>
        </p:spPr>
      </p:pic>
      <p:pic>
        <p:nvPicPr>
          <p:cNvPr id="17" name="Imagen 16">
            <a:extLst>
              <a:ext uri="{FF2B5EF4-FFF2-40B4-BE49-F238E27FC236}">
                <a16:creationId xmlns:a16="http://schemas.microsoft.com/office/drawing/2014/main" id="{109234FA-3BE5-5440-4214-A19C45B0F35F}"/>
              </a:ext>
            </a:extLst>
          </p:cNvPr>
          <p:cNvPicPr>
            <a:picLocks noChangeAspect="1"/>
          </p:cNvPicPr>
          <p:nvPr/>
        </p:nvPicPr>
        <p:blipFill>
          <a:blip r:embed="rId6"/>
          <a:stretch>
            <a:fillRect/>
          </a:stretch>
        </p:blipFill>
        <p:spPr>
          <a:xfrm>
            <a:off x="629462" y="5636958"/>
            <a:ext cx="4800847" cy="1092256"/>
          </a:xfrm>
          <a:prstGeom prst="rect">
            <a:avLst/>
          </a:prstGeom>
        </p:spPr>
      </p:pic>
      <p:sp>
        <p:nvSpPr>
          <p:cNvPr id="19" name="CuadroTexto 18">
            <a:extLst>
              <a:ext uri="{FF2B5EF4-FFF2-40B4-BE49-F238E27FC236}">
                <a16:creationId xmlns:a16="http://schemas.microsoft.com/office/drawing/2014/main" id="{442B331A-72F5-8F9C-909A-C8C6C7AA0A25}"/>
              </a:ext>
            </a:extLst>
          </p:cNvPr>
          <p:cNvSpPr txBox="1"/>
          <p:nvPr/>
        </p:nvSpPr>
        <p:spPr>
          <a:xfrm>
            <a:off x="4941334" y="2641462"/>
            <a:ext cx="6096000" cy="1200329"/>
          </a:xfrm>
          <a:prstGeom prst="rect">
            <a:avLst/>
          </a:prstGeom>
          <a:noFill/>
        </p:spPr>
        <p:txBody>
          <a:bodyPr wrap="square">
            <a:spAutoFit/>
          </a:bodyPr>
          <a:lstStyle/>
          <a:p>
            <a:r>
              <a:rPr lang="es-MX" dirty="0"/>
              <a:t>Una vez creadas las tablas se establecieron relaciones mediante claves foráneas. Estas relaciones permiten conectar la información entre las diferentes entidades y garantizan la integridad referencial de la base de datos.</a:t>
            </a:r>
          </a:p>
        </p:txBody>
      </p:sp>
    </p:spTree>
    <p:extLst>
      <p:ext uri="{BB962C8B-B14F-4D97-AF65-F5344CB8AC3E}">
        <p14:creationId xmlns:p14="http://schemas.microsoft.com/office/powerpoint/2010/main" val="3533006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1AFFC4-853F-06FF-DDBA-64D2E21E2FFD}"/>
              </a:ext>
            </a:extLst>
          </p:cNvPr>
          <p:cNvSpPr>
            <a:spLocks noGrp="1"/>
          </p:cNvSpPr>
          <p:nvPr>
            <p:ph type="title"/>
          </p:nvPr>
        </p:nvSpPr>
        <p:spPr/>
        <p:txBody>
          <a:bodyPr/>
          <a:lstStyle/>
          <a:p>
            <a:r>
              <a:rPr lang="es-MX" dirty="0"/>
              <a:t>Diagrama </a:t>
            </a:r>
          </a:p>
        </p:txBody>
      </p:sp>
      <p:pic>
        <p:nvPicPr>
          <p:cNvPr id="5" name="Marcador de contenido 4">
            <a:extLst>
              <a:ext uri="{FF2B5EF4-FFF2-40B4-BE49-F238E27FC236}">
                <a16:creationId xmlns:a16="http://schemas.microsoft.com/office/drawing/2014/main" id="{1D92C2FD-E855-A93C-E3BC-D7215D067808}"/>
              </a:ext>
            </a:extLst>
          </p:cNvPr>
          <p:cNvPicPr>
            <a:picLocks noGrp="1" noChangeAspect="1"/>
          </p:cNvPicPr>
          <p:nvPr>
            <p:ph idx="1"/>
          </p:nvPr>
        </p:nvPicPr>
        <p:blipFill>
          <a:blip r:embed="rId2"/>
          <a:stretch>
            <a:fillRect/>
          </a:stretch>
        </p:blipFill>
        <p:spPr>
          <a:xfrm>
            <a:off x="1127412" y="1690688"/>
            <a:ext cx="4690261" cy="4351338"/>
          </a:xfrm>
        </p:spPr>
      </p:pic>
      <p:sp>
        <p:nvSpPr>
          <p:cNvPr id="7" name="CuadroTexto 6">
            <a:extLst>
              <a:ext uri="{FF2B5EF4-FFF2-40B4-BE49-F238E27FC236}">
                <a16:creationId xmlns:a16="http://schemas.microsoft.com/office/drawing/2014/main" id="{C4AA3ABF-7DBA-7A49-9CC7-371FFA4B220E}"/>
              </a:ext>
            </a:extLst>
          </p:cNvPr>
          <p:cNvSpPr txBox="1"/>
          <p:nvPr/>
        </p:nvSpPr>
        <p:spPr>
          <a:xfrm>
            <a:off x="5736771" y="2551837"/>
            <a:ext cx="6096000" cy="1754326"/>
          </a:xfrm>
          <a:prstGeom prst="rect">
            <a:avLst/>
          </a:prstGeom>
          <a:noFill/>
        </p:spPr>
        <p:txBody>
          <a:bodyPr wrap="square">
            <a:spAutoFit/>
          </a:bodyPr>
          <a:lstStyle/>
          <a:p>
            <a:r>
              <a:rPr lang="es-MX" dirty="0"/>
              <a:t>Una vez creadas las tablas se establecieron relaciones mediante claves foráneas. El diagrama relacional muestra la forma en que los dueños se relacionan con las mascotas, las consultas con los veterinarios y los tratamientos con los medicamentos utilizados, garantizando la integridad referencial de la base de datos.</a:t>
            </a:r>
          </a:p>
        </p:txBody>
      </p:sp>
    </p:spTree>
    <p:extLst>
      <p:ext uri="{BB962C8B-B14F-4D97-AF65-F5344CB8AC3E}">
        <p14:creationId xmlns:p14="http://schemas.microsoft.com/office/powerpoint/2010/main" val="4216363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B0170246-764A-A78D-2874-E77407D38EAB}"/>
              </a:ext>
            </a:extLst>
          </p:cNvPr>
          <p:cNvPicPr>
            <a:picLocks noChangeAspect="1"/>
          </p:cNvPicPr>
          <p:nvPr/>
        </p:nvPicPr>
        <p:blipFill>
          <a:blip r:embed="rId2"/>
          <a:stretch>
            <a:fillRect/>
          </a:stretch>
        </p:blipFill>
        <p:spPr>
          <a:xfrm>
            <a:off x="941506" y="2092256"/>
            <a:ext cx="4191215" cy="2673487"/>
          </a:xfrm>
          <a:prstGeom prst="rect">
            <a:avLst/>
          </a:prstGeom>
        </p:spPr>
      </p:pic>
      <p:sp>
        <p:nvSpPr>
          <p:cNvPr id="6" name="Título 1">
            <a:extLst>
              <a:ext uri="{FF2B5EF4-FFF2-40B4-BE49-F238E27FC236}">
                <a16:creationId xmlns:a16="http://schemas.microsoft.com/office/drawing/2014/main" id="{693EFBB9-73A5-66E3-6C48-C66E213AE747}"/>
              </a:ext>
            </a:extLst>
          </p:cNvPr>
          <p:cNvSpPr>
            <a:spLocks noGrp="1"/>
          </p:cNvSpPr>
          <p:nvPr>
            <p:ph type="title"/>
          </p:nvPr>
        </p:nvSpPr>
        <p:spPr>
          <a:xfrm>
            <a:off x="838200" y="365125"/>
            <a:ext cx="10515600" cy="1325563"/>
          </a:xfrm>
        </p:spPr>
        <p:txBody>
          <a:bodyPr/>
          <a:lstStyle/>
          <a:p>
            <a:r>
              <a:rPr lang="es-MX" dirty="0" err="1"/>
              <a:t>Verificacion</a:t>
            </a:r>
            <a:r>
              <a:rPr lang="es-MX" dirty="0"/>
              <a:t> de registros </a:t>
            </a:r>
          </a:p>
        </p:txBody>
      </p:sp>
      <p:sp>
        <p:nvSpPr>
          <p:cNvPr id="8" name="CuadroTexto 7">
            <a:extLst>
              <a:ext uri="{FF2B5EF4-FFF2-40B4-BE49-F238E27FC236}">
                <a16:creationId xmlns:a16="http://schemas.microsoft.com/office/drawing/2014/main" id="{DA65F073-E48F-A15D-63B2-EF50140AA911}"/>
              </a:ext>
            </a:extLst>
          </p:cNvPr>
          <p:cNvSpPr txBox="1"/>
          <p:nvPr/>
        </p:nvSpPr>
        <p:spPr>
          <a:xfrm>
            <a:off x="5606142" y="2203494"/>
            <a:ext cx="6096000" cy="1754326"/>
          </a:xfrm>
          <a:prstGeom prst="rect">
            <a:avLst/>
          </a:prstGeom>
          <a:noFill/>
        </p:spPr>
        <p:txBody>
          <a:bodyPr wrap="square">
            <a:spAutoFit/>
          </a:bodyPr>
          <a:lstStyle/>
          <a:p>
            <a:r>
              <a:rPr lang="es-MX" dirty="0"/>
              <a:t>Finalmente se realizaron consultas de verificación para comprobar que los registros fueron almacenados correctamente y que las relaciones entre las tablas funcionan de manera adecuada. Esto permitió validar la integridad y consistencia de la información dentro de la base de datos.</a:t>
            </a:r>
          </a:p>
        </p:txBody>
      </p:sp>
    </p:spTree>
    <p:extLst>
      <p:ext uri="{BB962C8B-B14F-4D97-AF65-F5344CB8AC3E}">
        <p14:creationId xmlns:p14="http://schemas.microsoft.com/office/powerpoint/2010/main" val="30011102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EBF7EC-DF0B-E835-702A-457E96D18CF4}"/>
              </a:ext>
            </a:extLst>
          </p:cNvPr>
          <p:cNvSpPr>
            <a:spLocks noGrp="1"/>
          </p:cNvSpPr>
          <p:nvPr>
            <p:ph type="title"/>
          </p:nvPr>
        </p:nvSpPr>
        <p:spPr/>
        <p:txBody>
          <a:bodyPr/>
          <a:lstStyle/>
          <a:p>
            <a:r>
              <a:rPr lang="es-MX" dirty="0"/>
              <a:t>Conclusión </a:t>
            </a:r>
          </a:p>
        </p:txBody>
      </p:sp>
      <p:sp>
        <p:nvSpPr>
          <p:cNvPr id="3" name="Marcador de contenido 2">
            <a:extLst>
              <a:ext uri="{FF2B5EF4-FFF2-40B4-BE49-F238E27FC236}">
                <a16:creationId xmlns:a16="http://schemas.microsoft.com/office/drawing/2014/main" id="{3EEEAA5D-9D11-6E12-659D-EFF8A2F8C02D}"/>
              </a:ext>
            </a:extLst>
          </p:cNvPr>
          <p:cNvSpPr>
            <a:spLocks noGrp="1"/>
          </p:cNvSpPr>
          <p:nvPr>
            <p:ph idx="1"/>
          </p:nvPr>
        </p:nvSpPr>
        <p:spPr/>
        <p:txBody>
          <a:bodyPr/>
          <a:lstStyle/>
          <a:p>
            <a:pPr marL="0" indent="0">
              <a:buNone/>
            </a:pPr>
            <a:r>
              <a:rPr lang="es-MX" dirty="0"/>
              <a:t>En conclusión, este banco de ejercicios permitió reforzar los conocimientos sobre PostgreSQL mediante la creación de una base de datos para una clínica veterinaria. La implementación de tablas relacionadas, inserción de registros y ejecución de consultas SQL facilitó la comprensión del funcionamiento de los sistemas gestores de bases de datos y la importancia de mantener una estructura organizada para la gestión de la información.</a:t>
            </a:r>
          </a:p>
        </p:txBody>
      </p:sp>
    </p:spTree>
    <p:extLst>
      <p:ext uri="{BB962C8B-B14F-4D97-AF65-F5344CB8AC3E}">
        <p14:creationId xmlns:p14="http://schemas.microsoft.com/office/powerpoint/2010/main" val="9255955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419</Words>
  <Application>Microsoft Office PowerPoint</Application>
  <PresentationFormat>Panorámica</PresentationFormat>
  <Paragraphs>36</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Century Gothic</vt:lpstr>
      <vt:lpstr>Tema de Office</vt:lpstr>
      <vt:lpstr>Presentación de PowerPoint</vt:lpstr>
      <vt:lpstr>Introducción </vt:lpstr>
      <vt:lpstr>Justificación </vt:lpstr>
      <vt:lpstr>Creacion de la base de datos </vt:lpstr>
      <vt:lpstr>Relaciones </vt:lpstr>
      <vt:lpstr>Diagrama </vt:lpstr>
      <vt:lpstr>Verificacion de registros </vt:lpstr>
      <vt:lpstr>Conclusión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Jasmine Morales</dc:creator>
  <cp:lastModifiedBy>Jasmine Morales</cp:lastModifiedBy>
  <cp:revision>3</cp:revision>
  <dcterms:created xsi:type="dcterms:W3CDTF">2026-06-15T18:35:03Z</dcterms:created>
  <dcterms:modified xsi:type="dcterms:W3CDTF">2026-06-15T19:01:55Z</dcterms:modified>
</cp:coreProperties>
</file>
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5" r:id="rId7"/>
    <p:sldId id="261" r:id="rId8"/>
    <p:sldId id="264" r:id="rId9"/>
    <p:sldId id="262" r:id="rId10"/>
    <p:sldId id="266" r:id="rId11"/>
    <p:sldId id="263" r:id="rId12"/>
    <p:sldId id="267" r:id="rId13"/>
    <p:sldId id="268" r:id="rId1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D66ADF-950A-4BDA-8AA0-A3D0E17337D1}" type="datetimeFigureOut">
              <a:rPr lang="es-MX" smtClean="0"/>
              <a:t>06/06/2026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0007D4-DCCB-4192-9043-5030710EB7A2}" type="slidenum">
              <a:rPr lang="es-MX" smtClean="0"/>
              <a:t>‹Nº›</a:t>
            </a:fld>
            <a:endParaRPr lang="es-MX"/>
          </a:p>
        </p:txBody>
      </p:sp>
    </p:spTree>
    <p:extLst>
      <p:ext uri="{BB962C8B-B14F-4D97-AF65-F5344CB8AC3E}">
        <p14:creationId xmlns:p14="http://schemas.microsoft.com/office/powerpoint/2010/main" val="1944810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A70007D4-DCCB-4192-9043-5030710EB7A2}" type="slidenum">
              <a:rPr lang="es-MX" smtClean="0"/>
              <a:t>7</a:t>
            </a:fld>
            <a:endParaRPr lang="es-MX"/>
          </a:p>
        </p:txBody>
      </p:sp>
    </p:spTree>
    <p:extLst>
      <p:ext uri="{BB962C8B-B14F-4D97-AF65-F5344CB8AC3E}">
        <p14:creationId xmlns:p14="http://schemas.microsoft.com/office/powerpoint/2010/main" val="2368624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50C3FB-3C69-15F9-C35C-0760800BF98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869BDB20-2477-B6CE-A418-5203DDEBCB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88E66CA-4E42-D4D4-B3A1-8FFB3ED37259}"/>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5" name="Marcador de pie de página 4">
            <a:extLst>
              <a:ext uri="{FF2B5EF4-FFF2-40B4-BE49-F238E27FC236}">
                <a16:creationId xmlns:a16="http://schemas.microsoft.com/office/drawing/2014/main" id="{58237B1E-4F49-D41B-D65C-E8F9AB5CF46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2B7973C-ADA2-4C21-F4B2-03F9A165E961}"/>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1508045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95F7DE-ACC9-7056-1C78-B2CB66A4988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2DCE756-0C6E-E7AE-F245-2B7898AC5C6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31C7037-B6AD-F547-ECE8-45F166D5E39D}"/>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5" name="Marcador de pie de página 4">
            <a:extLst>
              <a:ext uri="{FF2B5EF4-FFF2-40B4-BE49-F238E27FC236}">
                <a16:creationId xmlns:a16="http://schemas.microsoft.com/office/drawing/2014/main" id="{7C2B1D62-7CB2-642E-6FBF-C8738CA470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CB17A6B-08B8-C808-DD42-6E3A68C8058B}"/>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1911145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342D65-654B-428E-7DA4-4F97AF4B7A2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E981BE2-45B1-0E45-12AA-EC2E2E2851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F00D515-12E5-02DC-15F0-D42DECD4D17C}"/>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5" name="Marcador de pie de página 4">
            <a:extLst>
              <a:ext uri="{FF2B5EF4-FFF2-40B4-BE49-F238E27FC236}">
                <a16:creationId xmlns:a16="http://schemas.microsoft.com/office/drawing/2014/main" id="{D5818CE3-BBF9-8E54-AE33-E6ADFE8F677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4D736B7-6123-8182-446C-42B8A9190AAE}"/>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488105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CF84D6-1020-D78D-1C62-B9BE3ED9CE6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5ADE97A-4B4B-EB2B-3B20-1424ABCF638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8A682927-EFC9-DE0A-3755-C819D35FA5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CB07FBF-679C-B5C3-C43C-849EE7C1E428}"/>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6" name="Marcador de pie de página 5">
            <a:extLst>
              <a:ext uri="{FF2B5EF4-FFF2-40B4-BE49-F238E27FC236}">
                <a16:creationId xmlns:a16="http://schemas.microsoft.com/office/drawing/2014/main" id="{62D54E6E-32AD-2B09-667D-5F1153010F5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3FD415A-E13A-033B-D28C-E6F73D43E442}"/>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4137730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3BB07-3329-FCE2-CB70-E5655123F66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38512F2-2A72-759B-35E5-F709CB24F6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D22C391-5A53-5DED-38E2-922842760D2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48A21A3-936D-A545-F6C4-60CB71958D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DF2C96C-8FC9-8A9A-1846-740E136913E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C45FCB9-B79B-B908-563D-DB72D4D01739}"/>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8" name="Marcador de pie de página 7">
            <a:extLst>
              <a:ext uri="{FF2B5EF4-FFF2-40B4-BE49-F238E27FC236}">
                <a16:creationId xmlns:a16="http://schemas.microsoft.com/office/drawing/2014/main" id="{0337CB2B-0352-D534-7747-FC8DAE7BC7F0}"/>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7D1432A-8C7F-174B-92FF-89D48FD89273}"/>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3882718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629F-72D4-F4C1-EF93-978777BEA7A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5FAC8AA9-DC6C-A421-4C88-057E4FC811BF}"/>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4" name="Marcador de pie de página 3">
            <a:extLst>
              <a:ext uri="{FF2B5EF4-FFF2-40B4-BE49-F238E27FC236}">
                <a16:creationId xmlns:a16="http://schemas.microsoft.com/office/drawing/2014/main" id="{3A3143D5-F41E-B8F9-6BEB-B3BC661E10F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C012771-4C34-09F0-58DD-867FB102C3BF}"/>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2173012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07ED1D6-93EE-8AAA-963D-3179133AD452}"/>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3" name="Marcador de pie de página 2">
            <a:extLst>
              <a:ext uri="{FF2B5EF4-FFF2-40B4-BE49-F238E27FC236}">
                <a16:creationId xmlns:a16="http://schemas.microsoft.com/office/drawing/2014/main" id="{EFBE4229-09D6-2B1F-F436-2431A37B941F}"/>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31DEC622-EC5B-F01B-4BEB-939A25A19C04}"/>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430873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498D-2D81-25D9-E628-B4ADC933481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D5A21B9-0C12-E9E6-40A5-7EB4E78A45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50F2B37-C3E8-2FAB-4455-888DC80E8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8D8D96A-C98C-7525-A21A-107DB682151A}"/>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6" name="Marcador de pie de página 5">
            <a:extLst>
              <a:ext uri="{FF2B5EF4-FFF2-40B4-BE49-F238E27FC236}">
                <a16:creationId xmlns:a16="http://schemas.microsoft.com/office/drawing/2014/main" id="{5CB93699-8AD4-284F-F424-2043E8EBD1B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D495D1E-911B-C6C9-65E0-78207A8741C2}"/>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55237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14F2C5-E0A4-B3B2-F1F1-6F866B3D83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4024F2BB-1EC9-C323-F3FA-29DF595F52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AABC6DC-6F5C-5E2E-BC1C-C9608B98F5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146FC66-E70A-784C-F62A-2563A7D584B5}"/>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6" name="Marcador de pie de página 5">
            <a:extLst>
              <a:ext uri="{FF2B5EF4-FFF2-40B4-BE49-F238E27FC236}">
                <a16:creationId xmlns:a16="http://schemas.microsoft.com/office/drawing/2014/main" id="{5EA95CA1-3B16-65E2-AA38-E156C9E317F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ACB4F39-AEF3-0DF2-94C2-B07A92E95501}"/>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1314447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707AE8-D7A4-998B-F0D9-158E9DB12A9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1B0EDEC9-C1ED-1B55-20F9-422044BDB58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2919C8F-D0D6-A798-6DD7-AC7F0AF30953}"/>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5" name="Marcador de pie de página 4">
            <a:extLst>
              <a:ext uri="{FF2B5EF4-FFF2-40B4-BE49-F238E27FC236}">
                <a16:creationId xmlns:a16="http://schemas.microsoft.com/office/drawing/2014/main" id="{AE60A62D-1E12-F7D3-E5C7-7808A694001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6F5E48A-E83D-5971-EA38-4B6BAA35C681}"/>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3869461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8730EE-4509-53C4-B3D2-DA9E9132C9C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91AA148-BE21-9A65-1255-3683DDC218C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670A28A-2DAB-6B03-D37C-F8D8E880369A}"/>
              </a:ext>
            </a:extLst>
          </p:cNvPr>
          <p:cNvSpPr>
            <a:spLocks noGrp="1"/>
          </p:cNvSpPr>
          <p:nvPr>
            <p:ph type="dt" sz="half" idx="10"/>
          </p:nvPr>
        </p:nvSpPr>
        <p:spPr/>
        <p:txBody>
          <a:bodyPr/>
          <a:lstStyle/>
          <a:p>
            <a:fld id="{06CF6F33-C0CA-4EBE-999B-B5F516B772EB}" type="datetimeFigureOut">
              <a:rPr lang="es-MX" smtClean="0"/>
              <a:t>06/06/2026</a:t>
            </a:fld>
            <a:endParaRPr lang="es-MX"/>
          </a:p>
        </p:txBody>
      </p:sp>
      <p:sp>
        <p:nvSpPr>
          <p:cNvPr id="5" name="Marcador de pie de página 4">
            <a:extLst>
              <a:ext uri="{FF2B5EF4-FFF2-40B4-BE49-F238E27FC236}">
                <a16:creationId xmlns:a16="http://schemas.microsoft.com/office/drawing/2014/main" id="{B2136651-24D6-65FC-D000-80EBA10D29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A02299-91BB-977E-7AC2-F608C7733FD6}"/>
              </a:ext>
            </a:extLst>
          </p:cNvPr>
          <p:cNvSpPr>
            <a:spLocks noGrp="1"/>
          </p:cNvSpPr>
          <p:nvPr>
            <p:ph type="sldNum" sz="quarter" idx="12"/>
          </p:nvPr>
        </p:nvSpPr>
        <p:spPr/>
        <p:txBody>
          <a:bodyPr/>
          <a:lstStyle/>
          <a:p>
            <a:fld id="{50B4C88F-447B-4530-9FA9-729EE823CDB3}" type="slidenum">
              <a:rPr lang="es-MX" smtClean="0"/>
              <a:t>‹Nº›</a:t>
            </a:fld>
            <a:endParaRPr lang="es-MX"/>
          </a:p>
        </p:txBody>
      </p:sp>
    </p:spTree>
    <p:extLst>
      <p:ext uri="{BB962C8B-B14F-4D97-AF65-F5344CB8AC3E}">
        <p14:creationId xmlns:p14="http://schemas.microsoft.com/office/powerpoint/2010/main" val="3496384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E673E1D-DBDF-9B8B-93E8-4534249E19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750F5BF-8D3A-47A6-A1FC-C0D4661CB6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3CC3C36-9ECF-3D6A-F587-B04CFBBF2B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CF6F33-C0CA-4EBE-999B-B5F516B772EB}" type="datetimeFigureOut">
              <a:rPr lang="es-MX" smtClean="0"/>
              <a:t>06/06/2026</a:t>
            </a:fld>
            <a:endParaRPr lang="es-MX"/>
          </a:p>
        </p:txBody>
      </p:sp>
      <p:sp>
        <p:nvSpPr>
          <p:cNvPr id="5" name="Marcador de pie de página 4">
            <a:extLst>
              <a:ext uri="{FF2B5EF4-FFF2-40B4-BE49-F238E27FC236}">
                <a16:creationId xmlns:a16="http://schemas.microsoft.com/office/drawing/2014/main" id="{7DAEA927-D373-5499-55F0-06E78D83F4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EF1E5108-2DFF-F852-A775-FC6EFDA408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B4C88F-447B-4530-9FA9-729EE823CDB3}" type="slidenum">
              <a:rPr lang="es-MX" smtClean="0"/>
              <a:t>‹Nº›</a:t>
            </a:fld>
            <a:endParaRPr lang="es-MX"/>
          </a:p>
        </p:txBody>
      </p:sp>
    </p:spTree>
    <p:extLst>
      <p:ext uri="{BB962C8B-B14F-4D97-AF65-F5344CB8AC3E}">
        <p14:creationId xmlns:p14="http://schemas.microsoft.com/office/powerpoint/2010/main" val="2369457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9F48016D-9FAE-89E0-37B5-A82E48BB53D3}"/>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Fundamentos</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3.2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13 de Mayo  del 2026</a:t>
            </a:r>
          </a:p>
        </p:txBody>
      </p:sp>
      <p:sp>
        <p:nvSpPr>
          <p:cNvPr id="5" name="TextBox 8">
            <a:extLst>
              <a:ext uri="{FF2B5EF4-FFF2-40B4-BE49-F238E27FC236}">
                <a16:creationId xmlns:a16="http://schemas.microsoft.com/office/drawing/2014/main" id="{46FD495B-7931-AC38-C8AC-A83A2AABE2DC}"/>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488EF583-CF65-9A89-ED0C-61A4348430C4}"/>
              </a:ext>
            </a:extLst>
          </p:cNvPr>
          <p:cNvGrpSpPr/>
          <p:nvPr/>
        </p:nvGrpSpPr>
        <p:grpSpPr>
          <a:xfrm>
            <a:off x="523335" y="31119"/>
            <a:ext cx="2709599" cy="1198176"/>
            <a:chOff x="0" y="0"/>
            <a:chExt cx="3073400" cy="1308100"/>
          </a:xfrm>
        </p:grpSpPr>
        <p:sp>
          <p:nvSpPr>
            <p:cNvPr id="7" name="Freeform 3">
              <a:extLst>
                <a:ext uri="{FF2B5EF4-FFF2-40B4-BE49-F238E27FC236}">
                  <a16:creationId xmlns:a16="http://schemas.microsoft.com/office/drawing/2014/main" id="{4EEFEDFA-5E2D-B80C-AC6C-033B7D9DF478}"/>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9C7BEA87-AD43-F8D4-7E59-9EA83E420BB3}"/>
              </a:ext>
            </a:extLst>
          </p:cNvPr>
          <p:cNvGrpSpPr/>
          <p:nvPr/>
        </p:nvGrpSpPr>
        <p:grpSpPr>
          <a:xfrm>
            <a:off x="9187322" y="106714"/>
            <a:ext cx="1872270" cy="1245240"/>
            <a:chOff x="0" y="0"/>
            <a:chExt cx="1981200" cy="1625600"/>
          </a:xfrm>
        </p:grpSpPr>
        <p:sp>
          <p:nvSpPr>
            <p:cNvPr id="9" name="Freeform 5">
              <a:extLst>
                <a:ext uri="{FF2B5EF4-FFF2-40B4-BE49-F238E27FC236}">
                  <a16:creationId xmlns:a16="http://schemas.microsoft.com/office/drawing/2014/main" id="{824E5F2C-2904-D3C3-97A3-6EF293989B41}"/>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0BF56784-ED9F-2C45-0402-C5ED50AAD11B}"/>
              </a:ext>
            </a:extLst>
          </p:cNvPr>
          <p:cNvGrpSpPr/>
          <p:nvPr/>
        </p:nvGrpSpPr>
        <p:grpSpPr>
          <a:xfrm>
            <a:off x="4014015" y="269788"/>
            <a:ext cx="3812814" cy="709234"/>
            <a:chOff x="0" y="0"/>
            <a:chExt cx="4343400" cy="901700"/>
          </a:xfrm>
        </p:grpSpPr>
        <p:sp>
          <p:nvSpPr>
            <p:cNvPr id="11" name="Freeform 7">
              <a:extLst>
                <a:ext uri="{FF2B5EF4-FFF2-40B4-BE49-F238E27FC236}">
                  <a16:creationId xmlns:a16="http://schemas.microsoft.com/office/drawing/2014/main" id="{9CE2F634-9A11-DD92-F038-DA334C14ADD2}"/>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3221099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A50568-7FCF-C87D-608F-6B510F2ABA21}"/>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C47FCB61-4534-0500-DEAC-0C4579999D26}"/>
              </a:ext>
            </a:extLst>
          </p:cNvPr>
          <p:cNvSpPr>
            <a:spLocks noGrp="1"/>
          </p:cNvSpPr>
          <p:nvPr>
            <p:ph idx="1"/>
          </p:nvPr>
        </p:nvSpPr>
        <p:spPr/>
        <p:txBody>
          <a:bodyPr>
            <a:normAutofit/>
          </a:bodyPr>
          <a:lstStyle/>
          <a:p>
            <a:pPr marL="0" indent="0" algn="just">
              <a:buNone/>
            </a:pPr>
            <a:r>
              <a:rPr lang="es-MX" sz="2400" dirty="0"/>
              <a:t>En esta práctica se desarrolló una base de datos para una tienda de motos utilizando PostgreSQL y </a:t>
            </a:r>
            <a:r>
              <a:rPr lang="es-MX" sz="2400" dirty="0" err="1"/>
              <a:t>pgAdmin</a:t>
            </a:r>
            <a:r>
              <a:rPr lang="es-MX" sz="2400" dirty="0"/>
              <a:t>. Se diseñaron diferentes tablas para almacenar la información de clientes, motos, empleados y ventas, permitiendo organizar los datos de manera estructurada. Además, se realizaron inserciones de registros para comprobar el correcto funcionamiento de la base de datos y fortalecer los conocimientos sobre el manejo de sistemas gestores de bases de datos.</a:t>
            </a:r>
          </a:p>
        </p:txBody>
      </p:sp>
    </p:spTree>
    <p:extLst>
      <p:ext uri="{BB962C8B-B14F-4D97-AF65-F5344CB8AC3E}">
        <p14:creationId xmlns:p14="http://schemas.microsoft.com/office/powerpoint/2010/main" val="13046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41A37E-17B5-2FFE-10BD-3E2A8263553C}"/>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865A4962-57C1-6225-8AA3-DD54F649D062}"/>
              </a:ext>
            </a:extLst>
          </p:cNvPr>
          <p:cNvSpPr>
            <a:spLocks noGrp="1"/>
          </p:cNvSpPr>
          <p:nvPr>
            <p:ph idx="1"/>
          </p:nvPr>
        </p:nvSpPr>
        <p:spPr/>
        <p:txBody>
          <a:bodyPr>
            <a:normAutofit/>
          </a:bodyPr>
          <a:lstStyle/>
          <a:p>
            <a:pPr marL="0" indent="0" algn="just">
              <a:buNone/>
            </a:pPr>
            <a:r>
              <a:rPr lang="es-MX" sz="2400" dirty="0"/>
              <a:t>La realización de esta práctica fue importante porque permitió aplicar los conocimientos relacionados con la creación y administración de bases de datos. A través del diseño de tablas y el registro de información se comprendió la importancia de organizar adecuadamente los datos para facilitar su consulta y gestión dentro de un sistema informático.</a:t>
            </a:r>
          </a:p>
        </p:txBody>
      </p:sp>
    </p:spTree>
    <p:extLst>
      <p:ext uri="{BB962C8B-B14F-4D97-AF65-F5344CB8AC3E}">
        <p14:creationId xmlns:p14="http://schemas.microsoft.com/office/powerpoint/2010/main" val="3253795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3376D7-F281-8ECA-FC3D-E8D5885B475F}"/>
              </a:ext>
            </a:extLst>
          </p:cNvPr>
          <p:cNvSpPr>
            <a:spLocks noGrp="1"/>
          </p:cNvSpPr>
          <p:nvPr>
            <p:ph type="title"/>
          </p:nvPr>
        </p:nvSpPr>
        <p:spPr/>
        <p:txBody>
          <a:bodyPr>
            <a:noAutofit/>
          </a:bodyPr>
          <a:lstStyle/>
          <a:p>
            <a:pPr algn="just"/>
            <a:r>
              <a:rPr lang="es-MX" sz="2000" dirty="0"/>
              <a:t>Inicialmente se creó la base de datos denominada </a:t>
            </a:r>
            <a:r>
              <a:rPr lang="es-MX" sz="2000" b="1" dirty="0" err="1"/>
              <a:t>Tienda_de_motos</a:t>
            </a:r>
            <a:r>
              <a:rPr lang="es-MX" sz="2000" dirty="0"/>
              <a:t>, la cual servirá como contenedor principal para todas las tablas desarrolladas durante la práctica. Esta base de datos fue diseñada con el propósito de gestionar la información de una agencia de motocicletas, permitiendo almacenar registros de clientes, empleados, inventario de motos y operaciones de venta. La creación de la base de datos constituye el primer paso para la implementación de un sistema de gestión de información eficiente.</a:t>
            </a:r>
          </a:p>
        </p:txBody>
      </p:sp>
      <p:pic>
        <p:nvPicPr>
          <p:cNvPr id="5" name="Marcador de contenido 4">
            <a:extLst>
              <a:ext uri="{FF2B5EF4-FFF2-40B4-BE49-F238E27FC236}">
                <a16:creationId xmlns:a16="http://schemas.microsoft.com/office/drawing/2014/main" id="{53F2EE43-ED48-27A9-F773-5BD000243508}"/>
              </a:ext>
            </a:extLst>
          </p:cNvPr>
          <p:cNvPicPr>
            <a:picLocks noGrp="1" noChangeAspect="1"/>
          </p:cNvPicPr>
          <p:nvPr>
            <p:ph idx="1"/>
          </p:nvPr>
        </p:nvPicPr>
        <p:blipFill>
          <a:blip r:embed="rId2"/>
          <a:stretch>
            <a:fillRect/>
          </a:stretch>
        </p:blipFill>
        <p:spPr>
          <a:xfrm>
            <a:off x="594854" y="2054225"/>
            <a:ext cx="5501146" cy="4351338"/>
          </a:xfrm>
        </p:spPr>
      </p:pic>
      <p:pic>
        <p:nvPicPr>
          <p:cNvPr id="7" name="Imagen 6">
            <a:extLst>
              <a:ext uri="{FF2B5EF4-FFF2-40B4-BE49-F238E27FC236}">
                <a16:creationId xmlns:a16="http://schemas.microsoft.com/office/drawing/2014/main" id="{FAFAB954-2B19-482B-22D6-C3AC6C522A48}"/>
              </a:ext>
            </a:extLst>
          </p:cNvPr>
          <p:cNvPicPr>
            <a:picLocks noChangeAspect="1"/>
          </p:cNvPicPr>
          <p:nvPr/>
        </p:nvPicPr>
        <p:blipFill>
          <a:blip r:embed="rId3"/>
          <a:stretch>
            <a:fillRect/>
          </a:stretch>
        </p:blipFill>
        <p:spPr>
          <a:xfrm>
            <a:off x="7128560" y="4127603"/>
            <a:ext cx="3181794" cy="1781424"/>
          </a:xfrm>
          <a:prstGeom prst="rect">
            <a:avLst/>
          </a:prstGeom>
        </p:spPr>
      </p:pic>
      <p:pic>
        <p:nvPicPr>
          <p:cNvPr id="9" name="Imagen 8">
            <a:extLst>
              <a:ext uri="{FF2B5EF4-FFF2-40B4-BE49-F238E27FC236}">
                <a16:creationId xmlns:a16="http://schemas.microsoft.com/office/drawing/2014/main" id="{BA764B01-F7F5-B7B6-93C2-3CD3A236B2DF}"/>
              </a:ext>
            </a:extLst>
          </p:cNvPr>
          <p:cNvPicPr>
            <a:picLocks noChangeAspect="1"/>
          </p:cNvPicPr>
          <p:nvPr/>
        </p:nvPicPr>
        <p:blipFill>
          <a:blip r:embed="rId4"/>
          <a:stretch>
            <a:fillRect/>
          </a:stretch>
        </p:blipFill>
        <p:spPr>
          <a:xfrm>
            <a:off x="7512236" y="1627126"/>
            <a:ext cx="2687678" cy="2500477"/>
          </a:xfrm>
          <a:prstGeom prst="rect">
            <a:avLst/>
          </a:prstGeom>
        </p:spPr>
      </p:pic>
    </p:spTree>
    <p:extLst>
      <p:ext uri="{BB962C8B-B14F-4D97-AF65-F5344CB8AC3E}">
        <p14:creationId xmlns:p14="http://schemas.microsoft.com/office/powerpoint/2010/main" val="412365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5933B20-9D24-D2E0-6ECE-EDDFFA3328BF}"/>
              </a:ext>
            </a:extLst>
          </p:cNvPr>
          <p:cNvPicPr>
            <a:picLocks noChangeAspect="1"/>
          </p:cNvPicPr>
          <p:nvPr/>
        </p:nvPicPr>
        <p:blipFill>
          <a:blip r:embed="rId2"/>
          <a:stretch>
            <a:fillRect/>
          </a:stretch>
        </p:blipFill>
        <p:spPr>
          <a:xfrm>
            <a:off x="6096000" y="1576730"/>
            <a:ext cx="5201376" cy="2410161"/>
          </a:xfrm>
          <a:prstGeom prst="rect">
            <a:avLst/>
          </a:prstGeom>
        </p:spPr>
      </p:pic>
      <p:pic>
        <p:nvPicPr>
          <p:cNvPr id="11" name="Imagen 10">
            <a:extLst>
              <a:ext uri="{FF2B5EF4-FFF2-40B4-BE49-F238E27FC236}">
                <a16:creationId xmlns:a16="http://schemas.microsoft.com/office/drawing/2014/main" id="{67367269-04E4-306A-168D-BBB750B3AC96}"/>
              </a:ext>
            </a:extLst>
          </p:cNvPr>
          <p:cNvPicPr>
            <a:picLocks noChangeAspect="1"/>
          </p:cNvPicPr>
          <p:nvPr/>
        </p:nvPicPr>
        <p:blipFill>
          <a:blip r:embed="rId3"/>
          <a:stretch>
            <a:fillRect/>
          </a:stretch>
        </p:blipFill>
        <p:spPr>
          <a:xfrm>
            <a:off x="632902" y="1263553"/>
            <a:ext cx="4572930" cy="2797799"/>
          </a:xfrm>
          <a:prstGeom prst="rect">
            <a:avLst/>
          </a:prstGeom>
        </p:spPr>
      </p:pic>
      <p:pic>
        <p:nvPicPr>
          <p:cNvPr id="13" name="Imagen 12">
            <a:extLst>
              <a:ext uri="{FF2B5EF4-FFF2-40B4-BE49-F238E27FC236}">
                <a16:creationId xmlns:a16="http://schemas.microsoft.com/office/drawing/2014/main" id="{03462DD0-8C57-417F-8D57-CD638FB9CEDF}"/>
              </a:ext>
            </a:extLst>
          </p:cNvPr>
          <p:cNvPicPr>
            <a:picLocks noChangeAspect="1"/>
          </p:cNvPicPr>
          <p:nvPr/>
        </p:nvPicPr>
        <p:blipFill>
          <a:blip r:embed="rId4"/>
          <a:stretch>
            <a:fillRect/>
          </a:stretch>
        </p:blipFill>
        <p:spPr>
          <a:xfrm>
            <a:off x="632902" y="4196438"/>
            <a:ext cx="4572930" cy="2402668"/>
          </a:xfrm>
          <a:prstGeom prst="rect">
            <a:avLst/>
          </a:prstGeom>
        </p:spPr>
      </p:pic>
      <p:sp>
        <p:nvSpPr>
          <p:cNvPr id="14" name="Título 13">
            <a:extLst>
              <a:ext uri="{FF2B5EF4-FFF2-40B4-BE49-F238E27FC236}">
                <a16:creationId xmlns:a16="http://schemas.microsoft.com/office/drawing/2014/main" id="{7AFD6B2A-B8A4-349E-CE64-7CFFCCCA459F}"/>
              </a:ext>
            </a:extLst>
          </p:cNvPr>
          <p:cNvSpPr>
            <a:spLocks noGrp="1"/>
          </p:cNvSpPr>
          <p:nvPr>
            <p:ph type="title"/>
          </p:nvPr>
        </p:nvSpPr>
        <p:spPr/>
        <p:txBody>
          <a:bodyPr/>
          <a:lstStyle/>
          <a:p>
            <a:r>
              <a:rPr lang="es-MX" dirty="0"/>
              <a:t>CREACION DE TABLA CLIENTES</a:t>
            </a:r>
          </a:p>
        </p:txBody>
      </p:sp>
      <p:sp>
        <p:nvSpPr>
          <p:cNvPr id="16" name="CuadroTexto 15">
            <a:extLst>
              <a:ext uri="{FF2B5EF4-FFF2-40B4-BE49-F238E27FC236}">
                <a16:creationId xmlns:a16="http://schemas.microsoft.com/office/drawing/2014/main" id="{17675933-535E-9958-42A7-CEC355B4C7CD}"/>
              </a:ext>
            </a:extLst>
          </p:cNvPr>
          <p:cNvSpPr txBox="1"/>
          <p:nvPr/>
        </p:nvSpPr>
        <p:spPr>
          <a:xfrm>
            <a:off x="5648688" y="4542606"/>
            <a:ext cx="6096000" cy="1477328"/>
          </a:xfrm>
          <a:prstGeom prst="rect">
            <a:avLst/>
          </a:prstGeom>
          <a:noFill/>
        </p:spPr>
        <p:txBody>
          <a:bodyPr wrap="square">
            <a:spAutoFit/>
          </a:bodyPr>
          <a:lstStyle/>
          <a:p>
            <a:pPr algn="just"/>
            <a:r>
              <a:rPr lang="es-MX" dirty="0"/>
              <a:t>Se creó la tabla Clientes con el objetivo de almacenar la información de las personas que realizan compras dentro de la tienda de motos. Esta tabla incluye datos como identificador del cliente, nombre, apellido, teléfono, correo electrónico y dirección.</a:t>
            </a:r>
          </a:p>
        </p:txBody>
      </p:sp>
    </p:spTree>
    <p:extLst>
      <p:ext uri="{BB962C8B-B14F-4D97-AF65-F5344CB8AC3E}">
        <p14:creationId xmlns:p14="http://schemas.microsoft.com/office/powerpoint/2010/main" val="3612881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212AAE-38F6-4EA9-C437-BA7CD01E71C4}"/>
              </a:ext>
            </a:extLst>
          </p:cNvPr>
          <p:cNvSpPr>
            <a:spLocks noGrp="1"/>
          </p:cNvSpPr>
          <p:nvPr>
            <p:ph type="title"/>
          </p:nvPr>
        </p:nvSpPr>
        <p:spPr/>
        <p:txBody>
          <a:bodyPr/>
          <a:lstStyle/>
          <a:p>
            <a:r>
              <a:rPr lang="es-MX" dirty="0"/>
              <a:t>INGRESANDO DATOS DE CLIENTES</a:t>
            </a:r>
          </a:p>
        </p:txBody>
      </p:sp>
      <p:pic>
        <p:nvPicPr>
          <p:cNvPr id="5" name="Marcador de contenido 4">
            <a:extLst>
              <a:ext uri="{FF2B5EF4-FFF2-40B4-BE49-F238E27FC236}">
                <a16:creationId xmlns:a16="http://schemas.microsoft.com/office/drawing/2014/main" id="{DBC06991-F4E7-EBC4-A947-0B934B192E5F}"/>
              </a:ext>
            </a:extLst>
          </p:cNvPr>
          <p:cNvPicPr>
            <a:picLocks noGrp="1" noChangeAspect="1"/>
          </p:cNvPicPr>
          <p:nvPr>
            <p:ph idx="1"/>
          </p:nvPr>
        </p:nvPicPr>
        <p:blipFill>
          <a:blip r:embed="rId2"/>
          <a:stretch>
            <a:fillRect/>
          </a:stretch>
        </p:blipFill>
        <p:spPr>
          <a:xfrm>
            <a:off x="247870" y="1690688"/>
            <a:ext cx="5271188" cy="2555728"/>
          </a:xfrm>
        </p:spPr>
      </p:pic>
      <p:pic>
        <p:nvPicPr>
          <p:cNvPr id="7" name="Imagen 6">
            <a:extLst>
              <a:ext uri="{FF2B5EF4-FFF2-40B4-BE49-F238E27FC236}">
                <a16:creationId xmlns:a16="http://schemas.microsoft.com/office/drawing/2014/main" id="{40ABEC70-B165-B358-E369-F67F6C3C9FC9}"/>
              </a:ext>
            </a:extLst>
          </p:cNvPr>
          <p:cNvPicPr>
            <a:picLocks noChangeAspect="1"/>
          </p:cNvPicPr>
          <p:nvPr/>
        </p:nvPicPr>
        <p:blipFill>
          <a:blip r:embed="rId3"/>
          <a:stretch>
            <a:fillRect/>
          </a:stretch>
        </p:blipFill>
        <p:spPr>
          <a:xfrm>
            <a:off x="5519058" y="1792569"/>
            <a:ext cx="6542314" cy="3272862"/>
          </a:xfrm>
          <a:prstGeom prst="rect">
            <a:avLst/>
          </a:prstGeom>
        </p:spPr>
      </p:pic>
      <p:sp>
        <p:nvSpPr>
          <p:cNvPr id="9" name="CuadroTexto 8">
            <a:extLst>
              <a:ext uri="{FF2B5EF4-FFF2-40B4-BE49-F238E27FC236}">
                <a16:creationId xmlns:a16="http://schemas.microsoft.com/office/drawing/2014/main" id="{06B37CBC-6AF0-BE17-A1A8-244DFA0421F1}"/>
              </a:ext>
            </a:extLst>
          </p:cNvPr>
          <p:cNvSpPr txBox="1"/>
          <p:nvPr/>
        </p:nvSpPr>
        <p:spPr>
          <a:xfrm>
            <a:off x="533400" y="4465266"/>
            <a:ext cx="4582886" cy="1754326"/>
          </a:xfrm>
          <a:prstGeom prst="rect">
            <a:avLst/>
          </a:prstGeom>
          <a:noFill/>
        </p:spPr>
        <p:txBody>
          <a:bodyPr wrap="square">
            <a:spAutoFit/>
          </a:bodyPr>
          <a:lstStyle/>
          <a:p>
            <a:pPr algn="just"/>
            <a:r>
              <a:rPr lang="es-MX" dirty="0"/>
              <a:t>Una vez creada la tabla Clientes, se procedió a insertar registros utilizando sentencias SQL. Estos datos permiten simular el funcionamiento real de una tienda de motos y sirven como base para realizar consultas posteriores.</a:t>
            </a:r>
          </a:p>
        </p:txBody>
      </p:sp>
    </p:spTree>
    <p:extLst>
      <p:ext uri="{BB962C8B-B14F-4D97-AF65-F5344CB8AC3E}">
        <p14:creationId xmlns:p14="http://schemas.microsoft.com/office/powerpoint/2010/main" val="3894427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4B584CEF-5015-FB15-B8F6-C3E66D392D02}"/>
              </a:ext>
            </a:extLst>
          </p:cNvPr>
          <p:cNvSpPr>
            <a:spLocks noGrp="1"/>
          </p:cNvSpPr>
          <p:nvPr>
            <p:ph type="title"/>
          </p:nvPr>
        </p:nvSpPr>
        <p:spPr>
          <a:xfrm>
            <a:off x="600075" y="42326"/>
            <a:ext cx="10515600" cy="1325563"/>
          </a:xfrm>
        </p:spPr>
        <p:txBody>
          <a:bodyPr/>
          <a:lstStyle/>
          <a:p>
            <a:r>
              <a:rPr lang="es-MX" dirty="0"/>
              <a:t>CREACION DE LA TALA MOTOS</a:t>
            </a:r>
          </a:p>
        </p:txBody>
      </p:sp>
      <p:pic>
        <p:nvPicPr>
          <p:cNvPr id="5" name="Marcador de contenido 4">
            <a:extLst>
              <a:ext uri="{FF2B5EF4-FFF2-40B4-BE49-F238E27FC236}">
                <a16:creationId xmlns:a16="http://schemas.microsoft.com/office/drawing/2014/main" id="{999B1256-E483-9A26-2745-00D59910A701}"/>
              </a:ext>
            </a:extLst>
          </p:cNvPr>
          <p:cNvPicPr>
            <a:picLocks noGrp="1" noChangeAspect="1"/>
          </p:cNvPicPr>
          <p:nvPr>
            <p:ph idx="4294967295"/>
          </p:nvPr>
        </p:nvPicPr>
        <p:blipFill>
          <a:blip r:embed="rId3"/>
          <a:stretch>
            <a:fillRect/>
          </a:stretch>
        </p:blipFill>
        <p:spPr>
          <a:xfrm>
            <a:off x="6934200" y="1115648"/>
            <a:ext cx="4657725" cy="2878138"/>
          </a:xfrm>
        </p:spPr>
      </p:pic>
      <p:pic>
        <p:nvPicPr>
          <p:cNvPr id="7" name="Imagen 6">
            <a:extLst>
              <a:ext uri="{FF2B5EF4-FFF2-40B4-BE49-F238E27FC236}">
                <a16:creationId xmlns:a16="http://schemas.microsoft.com/office/drawing/2014/main" id="{1CFA421B-9506-7AAC-A8BA-FE9D87429232}"/>
              </a:ext>
            </a:extLst>
          </p:cNvPr>
          <p:cNvPicPr>
            <a:picLocks noChangeAspect="1"/>
          </p:cNvPicPr>
          <p:nvPr/>
        </p:nvPicPr>
        <p:blipFill>
          <a:blip r:embed="rId4"/>
          <a:stretch>
            <a:fillRect/>
          </a:stretch>
        </p:blipFill>
        <p:spPr>
          <a:xfrm>
            <a:off x="967726" y="3536615"/>
            <a:ext cx="5128274" cy="3139837"/>
          </a:xfrm>
          <a:prstGeom prst="rect">
            <a:avLst/>
          </a:prstGeom>
        </p:spPr>
      </p:pic>
      <p:pic>
        <p:nvPicPr>
          <p:cNvPr id="9" name="Imagen 8">
            <a:extLst>
              <a:ext uri="{FF2B5EF4-FFF2-40B4-BE49-F238E27FC236}">
                <a16:creationId xmlns:a16="http://schemas.microsoft.com/office/drawing/2014/main" id="{E8C67BBF-27AC-F4D7-59B4-34509E105FA4}"/>
              </a:ext>
            </a:extLst>
          </p:cNvPr>
          <p:cNvPicPr>
            <a:picLocks noChangeAspect="1"/>
          </p:cNvPicPr>
          <p:nvPr/>
        </p:nvPicPr>
        <p:blipFill>
          <a:blip r:embed="rId5"/>
          <a:stretch>
            <a:fillRect/>
          </a:stretch>
        </p:blipFill>
        <p:spPr>
          <a:xfrm>
            <a:off x="6432097" y="3896297"/>
            <a:ext cx="4958994" cy="2780155"/>
          </a:xfrm>
          <a:prstGeom prst="rect">
            <a:avLst/>
          </a:prstGeom>
        </p:spPr>
      </p:pic>
      <p:sp>
        <p:nvSpPr>
          <p:cNvPr id="14" name="CuadroTexto 13">
            <a:extLst>
              <a:ext uri="{FF2B5EF4-FFF2-40B4-BE49-F238E27FC236}">
                <a16:creationId xmlns:a16="http://schemas.microsoft.com/office/drawing/2014/main" id="{6E300955-0DC5-D99B-57CE-87F69F7CEA82}"/>
              </a:ext>
            </a:extLst>
          </p:cNvPr>
          <p:cNvSpPr txBox="1"/>
          <p:nvPr/>
        </p:nvSpPr>
        <p:spPr>
          <a:xfrm>
            <a:off x="600075" y="1690688"/>
            <a:ext cx="6096000" cy="1200329"/>
          </a:xfrm>
          <a:prstGeom prst="rect">
            <a:avLst/>
          </a:prstGeom>
          <a:noFill/>
        </p:spPr>
        <p:txBody>
          <a:bodyPr wrap="square">
            <a:spAutoFit/>
          </a:bodyPr>
          <a:lstStyle/>
          <a:p>
            <a:pPr algn="just"/>
            <a:r>
              <a:rPr lang="es-MX" dirty="0"/>
              <a:t>La tabla Motos fue diseñada para almacenar la información de los vehículos disponibles para la venta. Entre los campos definidos se encuentran el identificador de la moto, marca, modelo, cilindrada, color, precio y stock disponible.</a:t>
            </a:r>
          </a:p>
        </p:txBody>
      </p:sp>
    </p:spTree>
    <p:extLst>
      <p:ext uri="{BB962C8B-B14F-4D97-AF65-F5344CB8AC3E}">
        <p14:creationId xmlns:p14="http://schemas.microsoft.com/office/powerpoint/2010/main" val="803181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2EE912-B7FE-4E47-B7DE-B0FAB03F1A32}"/>
              </a:ext>
            </a:extLst>
          </p:cNvPr>
          <p:cNvSpPr>
            <a:spLocks noGrp="1"/>
          </p:cNvSpPr>
          <p:nvPr>
            <p:ph type="title"/>
          </p:nvPr>
        </p:nvSpPr>
        <p:spPr/>
        <p:txBody>
          <a:bodyPr/>
          <a:lstStyle/>
          <a:p>
            <a:r>
              <a:rPr lang="es-MX" dirty="0"/>
              <a:t>INGRESANDO DATOS A MOTOS</a:t>
            </a:r>
          </a:p>
        </p:txBody>
      </p:sp>
      <p:pic>
        <p:nvPicPr>
          <p:cNvPr id="8" name="Imagen 7">
            <a:extLst>
              <a:ext uri="{FF2B5EF4-FFF2-40B4-BE49-F238E27FC236}">
                <a16:creationId xmlns:a16="http://schemas.microsoft.com/office/drawing/2014/main" id="{56F2D2CD-5EA2-04EC-7A8F-BE575A5041FA}"/>
              </a:ext>
            </a:extLst>
          </p:cNvPr>
          <p:cNvPicPr>
            <a:picLocks noChangeAspect="1"/>
          </p:cNvPicPr>
          <p:nvPr/>
        </p:nvPicPr>
        <p:blipFill>
          <a:blip r:embed="rId2"/>
          <a:stretch>
            <a:fillRect/>
          </a:stretch>
        </p:blipFill>
        <p:spPr>
          <a:xfrm>
            <a:off x="370114" y="1690688"/>
            <a:ext cx="3831772" cy="3879820"/>
          </a:xfrm>
          <a:prstGeom prst="rect">
            <a:avLst/>
          </a:prstGeom>
        </p:spPr>
      </p:pic>
      <p:pic>
        <p:nvPicPr>
          <p:cNvPr id="12" name="Imagen 11">
            <a:extLst>
              <a:ext uri="{FF2B5EF4-FFF2-40B4-BE49-F238E27FC236}">
                <a16:creationId xmlns:a16="http://schemas.microsoft.com/office/drawing/2014/main" id="{1042B50A-6F1D-B9DC-50E7-B016928D6717}"/>
              </a:ext>
            </a:extLst>
          </p:cNvPr>
          <p:cNvPicPr>
            <a:picLocks noChangeAspect="1"/>
          </p:cNvPicPr>
          <p:nvPr/>
        </p:nvPicPr>
        <p:blipFill>
          <a:blip r:embed="rId3"/>
          <a:stretch>
            <a:fillRect/>
          </a:stretch>
        </p:blipFill>
        <p:spPr>
          <a:xfrm>
            <a:off x="4528457" y="1535286"/>
            <a:ext cx="7293429" cy="3597229"/>
          </a:xfrm>
          <a:prstGeom prst="rect">
            <a:avLst/>
          </a:prstGeom>
        </p:spPr>
      </p:pic>
      <p:sp>
        <p:nvSpPr>
          <p:cNvPr id="14" name="CuadroTexto 13">
            <a:extLst>
              <a:ext uri="{FF2B5EF4-FFF2-40B4-BE49-F238E27FC236}">
                <a16:creationId xmlns:a16="http://schemas.microsoft.com/office/drawing/2014/main" id="{EA85CDF4-6155-9FDA-D472-2D721CC3DA39}"/>
              </a:ext>
            </a:extLst>
          </p:cNvPr>
          <p:cNvSpPr txBox="1"/>
          <p:nvPr/>
        </p:nvSpPr>
        <p:spPr>
          <a:xfrm>
            <a:off x="217714" y="5493301"/>
            <a:ext cx="6096000" cy="1200329"/>
          </a:xfrm>
          <a:prstGeom prst="rect">
            <a:avLst/>
          </a:prstGeom>
          <a:noFill/>
        </p:spPr>
        <p:txBody>
          <a:bodyPr wrap="square">
            <a:spAutoFit/>
          </a:bodyPr>
          <a:lstStyle/>
          <a:p>
            <a:r>
              <a:rPr lang="es-MX" dirty="0"/>
              <a:t>Después de crear la tabla Motos se agregaron diferentes registros correspondientes a diversas marcas y modelos. Esto permitió contar con un inventario de motos para las pruebas realizadas dentro de la base de datos.</a:t>
            </a:r>
          </a:p>
        </p:txBody>
      </p:sp>
    </p:spTree>
    <p:extLst>
      <p:ext uri="{BB962C8B-B14F-4D97-AF65-F5344CB8AC3E}">
        <p14:creationId xmlns:p14="http://schemas.microsoft.com/office/powerpoint/2010/main" val="2192769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84C357-3D9B-B61F-F6A1-A3079600A1A6}"/>
              </a:ext>
            </a:extLst>
          </p:cNvPr>
          <p:cNvSpPr>
            <a:spLocks noGrp="1"/>
          </p:cNvSpPr>
          <p:nvPr>
            <p:ph type="title"/>
          </p:nvPr>
        </p:nvSpPr>
        <p:spPr/>
        <p:txBody>
          <a:bodyPr/>
          <a:lstStyle/>
          <a:p>
            <a:r>
              <a:rPr lang="es-MX" dirty="0"/>
              <a:t>CREACION DE TABLA EMPLEADOS</a:t>
            </a:r>
          </a:p>
        </p:txBody>
      </p:sp>
      <p:pic>
        <p:nvPicPr>
          <p:cNvPr id="5" name="Marcador de contenido 4">
            <a:extLst>
              <a:ext uri="{FF2B5EF4-FFF2-40B4-BE49-F238E27FC236}">
                <a16:creationId xmlns:a16="http://schemas.microsoft.com/office/drawing/2014/main" id="{FFE8510B-048A-63D1-C62B-3DD394D4FD40}"/>
              </a:ext>
            </a:extLst>
          </p:cNvPr>
          <p:cNvPicPr>
            <a:picLocks noGrp="1" noChangeAspect="1"/>
          </p:cNvPicPr>
          <p:nvPr>
            <p:ph idx="1"/>
          </p:nvPr>
        </p:nvPicPr>
        <p:blipFill>
          <a:blip r:embed="rId2"/>
          <a:stretch>
            <a:fillRect/>
          </a:stretch>
        </p:blipFill>
        <p:spPr>
          <a:xfrm>
            <a:off x="6745366" y="1442285"/>
            <a:ext cx="5363323" cy="2657846"/>
          </a:xfrm>
        </p:spPr>
      </p:pic>
      <p:pic>
        <p:nvPicPr>
          <p:cNvPr id="7" name="Imagen 6">
            <a:extLst>
              <a:ext uri="{FF2B5EF4-FFF2-40B4-BE49-F238E27FC236}">
                <a16:creationId xmlns:a16="http://schemas.microsoft.com/office/drawing/2014/main" id="{06F1F4B6-4535-C15B-0FEA-D667DE614ED0}"/>
              </a:ext>
            </a:extLst>
          </p:cNvPr>
          <p:cNvPicPr>
            <a:picLocks noChangeAspect="1"/>
          </p:cNvPicPr>
          <p:nvPr/>
        </p:nvPicPr>
        <p:blipFill>
          <a:blip r:embed="rId3"/>
          <a:stretch>
            <a:fillRect/>
          </a:stretch>
        </p:blipFill>
        <p:spPr>
          <a:xfrm>
            <a:off x="692910" y="1285701"/>
            <a:ext cx="5768281" cy="3310305"/>
          </a:xfrm>
          <a:prstGeom prst="rect">
            <a:avLst/>
          </a:prstGeom>
        </p:spPr>
      </p:pic>
      <p:pic>
        <p:nvPicPr>
          <p:cNvPr id="9" name="Imagen 8">
            <a:extLst>
              <a:ext uri="{FF2B5EF4-FFF2-40B4-BE49-F238E27FC236}">
                <a16:creationId xmlns:a16="http://schemas.microsoft.com/office/drawing/2014/main" id="{4013C593-ECA1-08C3-7C1D-367BB1AE5F4C}"/>
              </a:ext>
            </a:extLst>
          </p:cNvPr>
          <p:cNvPicPr>
            <a:picLocks noChangeAspect="1"/>
          </p:cNvPicPr>
          <p:nvPr/>
        </p:nvPicPr>
        <p:blipFill>
          <a:blip r:embed="rId4"/>
          <a:stretch>
            <a:fillRect/>
          </a:stretch>
        </p:blipFill>
        <p:spPr>
          <a:xfrm>
            <a:off x="609599" y="3985141"/>
            <a:ext cx="5137483" cy="2872859"/>
          </a:xfrm>
          <a:prstGeom prst="rect">
            <a:avLst/>
          </a:prstGeom>
        </p:spPr>
      </p:pic>
      <p:sp>
        <p:nvSpPr>
          <p:cNvPr id="11" name="CuadroTexto 10">
            <a:extLst>
              <a:ext uri="{FF2B5EF4-FFF2-40B4-BE49-F238E27FC236}">
                <a16:creationId xmlns:a16="http://schemas.microsoft.com/office/drawing/2014/main" id="{6BBDFB19-98C1-B901-C2B2-5948D40451CB}"/>
              </a:ext>
            </a:extLst>
          </p:cNvPr>
          <p:cNvSpPr txBox="1"/>
          <p:nvPr/>
        </p:nvSpPr>
        <p:spPr>
          <a:xfrm>
            <a:off x="6012689" y="4733836"/>
            <a:ext cx="6096000" cy="1200329"/>
          </a:xfrm>
          <a:prstGeom prst="rect">
            <a:avLst/>
          </a:prstGeom>
          <a:noFill/>
        </p:spPr>
        <p:txBody>
          <a:bodyPr wrap="square">
            <a:spAutoFit/>
          </a:bodyPr>
          <a:lstStyle/>
          <a:p>
            <a:pPr algn="just"/>
            <a:r>
              <a:rPr lang="es-MX" dirty="0"/>
              <a:t>La tabla Empleados fue creada para registrar la información del personal que labora en la tienda. Se incluyeron datos como identificador del empleado, nombre, apellido, puesto, teléfono y salario.</a:t>
            </a:r>
          </a:p>
        </p:txBody>
      </p:sp>
    </p:spTree>
    <p:extLst>
      <p:ext uri="{BB962C8B-B14F-4D97-AF65-F5344CB8AC3E}">
        <p14:creationId xmlns:p14="http://schemas.microsoft.com/office/powerpoint/2010/main" val="4245772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0BA9CF-4D56-8513-0A43-3FEB03AE5A9C}"/>
              </a:ext>
            </a:extLst>
          </p:cNvPr>
          <p:cNvSpPr>
            <a:spLocks noGrp="1"/>
          </p:cNvSpPr>
          <p:nvPr>
            <p:ph type="title"/>
          </p:nvPr>
        </p:nvSpPr>
        <p:spPr/>
        <p:txBody>
          <a:bodyPr/>
          <a:lstStyle/>
          <a:p>
            <a:r>
              <a:rPr lang="es-MX" dirty="0"/>
              <a:t>INGRESANDO DATOS A EMPLEADOS</a:t>
            </a:r>
          </a:p>
        </p:txBody>
      </p:sp>
      <p:pic>
        <p:nvPicPr>
          <p:cNvPr id="5" name="Marcador de contenido 4">
            <a:extLst>
              <a:ext uri="{FF2B5EF4-FFF2-40B4-BE49-F238E27FC236}">
                <a16:creationId xmlns:a16="http://schemas.microsoft.com/office/drawing/2014/main" id="{28275AA2-2169-DA42-CA71-C37DB1E943EB}"/>
              </a:ext>
            </a:extLst>
          </p:cNvPr>
          <p:cNvPicPr>
            <a:picLocks noGrp="1" noChangeAspect="1"/>
          </p:cNvPicPr>
          <p:nvPr>
            <p:ph idx="1"/>
          </p:nvPr>
        </p:nvPicPr>
        <p:blipFill>
          <a:blip r:embed="rId2"/>
          <a:stretch>
            <a:fillRect/>
          </a:stretch>
        </p:blipFill>
        <p:spPr>
          <a:xfrm>
            <a:off x="162709" y="1814740"/>
            <a:ext cx="5048097" cy="2779032"/>
          </a:xfrm>
        </p:spPr>
      </p:pic>
      <p:pic>
        <p:nvPicPr>
          <p:cNvPr id="7" name="Imagen 6">
            <a:extLst>
              <a:ext uri="{FF2B5EF4-FFF2-40B4-BE49-F238E27FC236}">
                <a16:creationId xmlns:a16="http://schemas.microsoft.com/office/drawing/2014/main" id="{C9C6BE04-8CE2-7C77-EDD8-BB259BCC5CF2}"/>
              </a:ext>
            </a:extLst>
          </p:cNvPr>
          <p:cNvPicPr>
            <a:picLocks noChangeAspect="1"/>
          </p:cNvPicPr>
          <p:nvPr/>
        </p:nvPicPr>
        <p:blipFill>
          <a:blip r:embed="rId3"/>
          <a:stretch>
            <a:fillRect/>
          </a:stretch>
        </p:blipFill>
        <p:spPr>
          <a:xfrm>
            <a:off x="4855605" y="1690688"/>
            <a:ext cx="7173686" cy="3730766"/>
          </a:xfrm>
          <a:prstGeom prst="rect">
            <a:avLst/>
          </a:prstGeom>
        </p:spPr>
      </p:pic>
      <p:sp>
        <p:nvSpPr>
          <p:cNvPr id="9" name="CuadroTexto 8">
            <a:extLst>
              <a:ext uri="{FF2B5EF4-FFF2-40B4-BE49-F238E27FC236}">
                <a16:creationId xmlns:a16="http://schemas.microsoft.com/office/drawing/2014/main" id="{59C7B791-CDC1-3C7A-AF03-BE9B30167750}"/>
              </a:ext>
            </a:extLst>
          </p:cNvPr>
          <p:cNvSpPr txBox="1"/>
          <p:nvPr/>
        </p:nvSpPr>
        <p:spPr>
          <a:xfrm>
            <a:off x="435429" y="4593772"/>
            <a:ext cx="4299857" cy="2031325"/>
          </a:xfrm>
          <a:prstGeom prst="rect">
            <a:avLst/>
          </a:prstGeom>
          <a:noFill/>
        </p:spPr>
        <p:txBody>
          <a:bodyPr wrap="square">
            <a:spAutoFit/>
          </a:bodyPr>
          <a:lstStyle/>
          <a:p>
            <a:pPr algn="just"/>
            <a:r>
              <a:rPr lang="es-MX" dirty="0"/>
              <a:t>Posteriormente se insertaron registros de empleados con distintos puestos dentro de la empresa, tales como vendedores, técnicos, supervisores y gerente general. Esto permitió simular una estructura organizacional más cercana a un entorno real.</a:t>
            </a:r>
          </a:p>
        </p:txBody>
      </p:sp>
    </p:spTree>
    <p:extLst>
      <p:ext uri="{BB962C8B-B14F-4D97-AF65-F5344CB8AC3E}">
        <p14:creationId xmlns:p14="http://schemas.microsoft.com/office/powerpoint/2010/main" val="1628224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98C308-2F1B-30E7-C1C1-10D83AB8AD73}"/>
              </a:ext>
            </a:extLst>
          </p:cNvPr>
          <p:cNvSpPr>
            <a:spLocks noGrp="1"/>
          </p:cNvSpPr>
          <p:nvPr>
            <p:ph type="title"/>
          </p:nvPr>
        </p:nvSpPr>
        <p:spPr/>
        <p:txBody>
          <a:bodyPr/>
          <a:lstStyle/>
          <a:p>
            <a:r>
              <a:rPr lang="es-MX" dirty="0"/>
              <a:t>CREACCION DE TABLA VENTAS</a:t>
            </a:r>
          </a:p>
        </p:txBody>
      </p:sp>
      <p:pic>
        <p:nvPicPr>
          <p:cNvPr id="5" name="Marcador de contenido 4">
            <a:extLst>
              <a:ext uri="{FF2B5EF4-FFF2-40B4-BE49-F238E27FC236}">
                <a16:creationId xmlns:a16="http://schemas.microsoft.com/office/drawing/2014/main" id="{9F77C0D8-F7E8-14EB-99DF-B1EB17768D69}"/>
              </a:ext>
            </a:extLst>
          </p:cNvPr>
          <p:cNvPicPr>
            <a:picLocks noGrp="1" noChangeAspect="1"/>
          </p:cNvPicPr>
          <p:nvPr>
            <p:ph idx="1"/>
          </p:nvPr>
        </p:nvPicPr>
        <p:blipFill>
          <a:blip r:embed="rId2"/>
          <a:stretch>
            <a:fillRect/>
          </a:stretch>
        </p:blipFill>
        <p:spPr>
          <a:xfrm>
            <a:off x="6747104" y="1461067"/>
            <a:ext cx="4867954" cy="2734057"/>
          </a:xfrm>
        </p:spPr>
      </p:pic>
      <p:pic>
        <p:nvPicPr>
          <p:cNvPr id="7" name="Imagen 6">
            <a:extLst>
              <a:ext uri="{FF2B5EF4-FFF2-40B4-BE49-F238E27FC236}">
                <a16:creationId xmlns:a16="http://schemas.microsoft.com/office/drawing/2014/main" id="{612704FF-8B5B-CA8C-6D80-0AB97E08C98F}"/>
              </a:ext>
            </a:extLst>
          </p:cNvPr>
          <p:cNvPicPr>
            <a:picLocks noChangeAspect="1"/>
          </p:cNvPicPr>
          <p:nvPr/>
        </p:nvPicPr>
        <p:blipFill>
          <a:blip r:embed="rId3"/>
          <a:stretch>
            <a:fillRect/>
          </a:stretch>
        </p:blipFill>
        <p:spPr>
          <a:xfrm>
            <a:off x="576942" y="1360715"/>
            <a:ext cx="5549945" cy="3429000"/>
          </a:xfrm>
          <a:prstGeom prst="rect">
            <a:avLst/>
          </a:prstGeom>
        </p:spPr>
      </p:pic>
      <p:pic>
        <p:nvPicPr>
          <p:cNvPr id="9" name="Imagen 8">
            <a:extLst>
              <a:ext uri="{FF2B5EF4-FFF2-40B4-BE49-F238E27FC236}">
                <a16:creationId xmlns:a16="http://schemas.microsoft.com/office/drawing/2014/main" id="{0CA08A90-4F7E-DC2C-74D7-DBD7D90D7F8E}"/>
              </a:ext>
            </a:extLst>
          </p:cNvPr>
          <p:cNvPicPr>
            <a:picLocks noChangeAspect="1"/>
          </p:cNvPicPr>
          <p:nvPr/>
        </p:nvPicPr>
        <p:blipFill>
          <a:blip r:embed="rId4"/>
          <a:stretch>
            <a:fillRect/>
          </a:stretch>
        </p:blipFill>
        <p:spPr>
          <a:xfrm>
            <a:off x="576942" y="3965503"/>
            <a:ext cx="5366657" cy="2892497"/>
          </a:xfrm>
          <a:prstGeom prst="rect">
            <a:avLst/>
          </a:prstGeom>
        </p:spPr>
      </p:pic>
      <p:sp>
        <p:nvSpPr>
          <p:cNvPr id="11" name="CuadroTexto 10">
            <a:extLst>
              <a:ext uri="{FF2B5EF4-FFF2-40B4-BE49-F238E27FC236}">
                <a16:creationId xmlns:a16="http://schemas.microsoft.com/office/drawing/2014/main" id="{B41141D8-BCB5-6EF7-D804-FC233862F25D}"/>
              </a:ext>
            </a:extLst>
          </p:cNvPr>
          <p:cNvSpPr txBox="1"/>
          <p:nvPr/>
        </p:nvSpPr>
        <p:spPr>
          <a:xfrm>
            <a:off x="6126887" y="4552402"/>
            <a:ext cx="6096000" cy="1477328"/>
          </a:xfrm>
          <a:prstGeom prst="rect">
            <a:avLst/>
          </a:prstGeom>
          <a:noFill/>
        </p:spPr>
        <p:txBody>
          <a:bodyPr wrap="square">
            <a:spAutoFit/>
          </a:bodyPr>
          <a:lstStyle/>
          <a:p>
            <a:pPr algn="just"/>
            <a:r>
              <a:rPr lang="es-MX" dirty="0"/>
              <a:t>La tabla Ventas fue diseñada para registrar las transacciones realizadas dentro de la tienda de motos. En ella se almacena información relacionada con el cliente, la moto vendida, el empleado responsable de la venta, la fecha de la operación y el monto correspondiente.</a:t>
            </a:r>
          </a:p>
        </p:txBody>
      </p:sp>
    </p:spTree>
    <p:extLst>
      <p:ext uri="{BB962C8B-B14F-4D97-AF65-F5344CB8AC3E}">
        <p14:creationId xmlns:p14="http://schemas.microsoft.com/office/powerpoint/2010/main" val="2802498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D46EBA-3589-C040-1174-189D1A16C0B3}"/>
              </a:ext>
            </a:extLst>
          </p:cNvPr>
          <p:cNvSpPr>
            <a:spLocks noGrp="1"/>
          </p:cNvSpPr>
          <p:nvPr>
            <p:ph type="title"/>
          </p:nvPr>
        </p:nvSpPr>
        <p:spPr/>
        <p:txBody>
          <a:bodyPr/>
          <a:lstStyle/>
          <a:p>
            <a:r>
              <a:rPr lang="es-MX" dirty="0"/>
              <a:t>INGRESANDO DATOS A VENTAS</a:t>
            </a:r>
          </a:p>
        </p:txBody>
      </p:sp>
      <p:pic>
        <p:nvPicPr>
          <p:cNvPr id="15" name="Imagen 14">
            <a:extLst>
              <a:ext uri="{FF2B5EF4-FFF2-40B4-BE49-F238E27FC236}">
                <a16:creationId xmlns:a16="http://schemas.microsoft.com/office/drawing/2014/main" id="{F2291E7D-A0EA-4B35-C869-9798737412BC}"/>
              </a:ext>
            </a:extLst>
          </p:cNvPr>
          <p:cNvPicPr>
            <a:picLocks noChangeAspect="1"/>
          </p:cNvPicPr>
          <p:nvPr/>
        </p:nvPicPr>
        <p:blipFill>
          <a:blip r:embed="rId2"/>
          <a:stretch>
            <a:fillRect/>
          </a:stretch>
        </p:blipFill>
        <p:spPr>
          <a:xfrm>
            <a:off x="0" y="1958358"/>
            <a:ext cx="5806076" cy="3242005"/>
          </a:xfrm>
          <a:prstGeom prst="rect">
            <a:avLst/>
          </a:prstGeom>
        </p:spPr>
      </p:pic>
      <p:sp>
        <p:nvSpPr>
          <p:cNvPr id="17" name="CuadroTexto 16">
            <a:extLst>
              <a:ext uri="{FF2B5EF4-FFF2-40B4-BE49-F238E27FC236}">
                <a16:creationId xmlns:a16="http://schemas.microsoft.com/office/drawing/2014/main" id="{E08A983C-46CF-6CDB-4B28-2A696A04A7AE}"/>
              </a:ext>
            </a:extLst>
          </p:cNvPr>
          <p:cNvSpPr txBox="1"/>
          <p:nvPr/>
        </p:nvSpPr>
        <p:spPr>
          <a:xfrm>
            <a:off x="293915" y="5749402"/>
            <a:ext cx="11898085" cy="923330"/>
          </a:xfrm>
          <a:prstGeom prst="rect">
            <a:avLst/>
          </a:prstGeom>
          <a:noFill/>
        </p:spPr>
        <p:txBody>
          <a:bodyPr wrap="square">
            <a:spAutoFit/>
          </a:bodyPr>
          <a:lstStyle/>
          <a:p>
            <a:pPr algn="just"/>
            <a:r>
              <a:rPr lang="es-MX" dirty="0"/>
              <a:t>Finalmente se agregaron registros de ventas utilizando información relacionada con las tablas Clientes, Motos y Empleados. De esta manera fue posible representar operaciones comerciales reales y validar el correcto funcionamiento de la base de datos.</a:t>
            </a:r>
          </a:p>
        </p:txBody>
      </p:sp>
      <p:pic>
        <p:nvPicPr>
          <p:cNvPr id="19" name="Imagen 18">
            <a:extLst>
              <a:ext uri="{FF2B5EF4-FFF2-40B4-BE49-F238E27FC236}">
                <a16:creationId xmlns:a16="http://schemas.microsoft.com/office/drawing/2014/main" id="{A5D5377F-E959-3CFF-3354-E688D74D981C}"/>
              </a:ext>
            </a:extLst>
          </p:cNvPr>
          <p:cNvPicPr>
            <a:picLocks noChangeAspect="1"/>
          </p:cNvPicPr>
          <p:nvPr/>
        </p:nvPicPr>
        <p:blipFill>
          <a:blip r:embed="rId3"/>
          <a:stretch>
            <a:fillRect/>
          </a:stretch>
        </p:blipFill>
        <p:spPr>
          <a:xfrm>
            <a:off x="5108894" y="1822347"/>
            <a:ext cx="6930707" cy="3659385"/>
          </a:xfrm>
          <a:prstGeom prst="rect">
            <a:avLst/>
          </a:prstGeom>
        </p:spPr>
      </p:pic>
    </p:spTree>
    <p:extLst>
      <p:ext uri="{BB962C8B-B14F-4D97-AF65-F5344CB8AC3E}">
        <p14:creationId xmlns:p14="http://schemas.microsoft.com/office/powerpoint/2010/main" val="3752038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4D0D5-8870-CD1B-6136-A32E9BF0C253}"/>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5E3B399A-D7C1-6B1D-DB16-F3E5BB81AC29}"/>
              </a:ext>
            </a:extLst>
          </p:cNvPr>
          <p:cNvSpPr>
            <a:spLocks noGrp="1"/>
          </p:cNvSpPr>
          <p:nvPr>
            <p:ph idx="1"/>
          </p:nvPr>
        </p:nvSpPr>
        <p:spPr/>
        <p:txBody>
          <a:bodyPr>
            <a:normAutofit/>
          </a:bodyPr>
          <a:lstStyle/>
          <a:p>
            <a:pPr marL="0" indent="0" algn="just">
              <a:buNone/>
            </a:pPr>
            <a:r>
              <a:rPr lang="es-MX" sz="2400" dirty="0"/>
              <a:t>En conclusión, esta práctica permitió reforzar los conocimientos sobre la creación y administración de bases de datos mediante PostgreSQL. Se diseñaron e implementaron tablas para una tienda de motos, además de registrar información necesaria para simular el funcionamiento de un sistema de ventas. La actividad contribuyó al desarrollo de habilidades prácticas relacionadas con el manejo, organización y consulta de datos dentro de un entorno real.</a:t>
            </a:r>
          </a:p>
        </p:txBody>
      </p:sp>
    </p:spTree>
    <p:extLst>
      <p:ext uri="{BB962C8B-B14F-4D97-AF65-F5344CB8AC3E}">
        <p14:creationId xmlns:p14="http://schemas.microsoft.com/office/powerpoint/2010/main" val="297699370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716</Words>
  <Application>Microsoft Office PowerPoint</Application>
  <PresentationFormat>Panorámica</PresentationFormat>
  <Paragraphs>46</Paragraphs>
  <Slides>13</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Aptos</vt:lpstr>
      <vt:lpstr>Aptos Display</vt:lpstr>
      <vt:lpstr>Arial</vt:lpstr>
      <vt:lpstr>Century Gothic</vt:lpstr>
      <vt:lpstr>Tema de Office</vt:lpstr>
      <vt:lpstr>Presentación de PowerPoint</vt:lpstr>
      <vt:lpstr>Introducción </vt:lpstr>
      <vt:lpstr>Justificación</vt:lpstr>
      <vt:lpstr>Inicialmente se creó la base de datos denominada Tienda_de_motos, la cual servirá como contenedor principal para todas las tablas desarrolladas durante la práctica. Esta base de datos fue diseñada con el propósito de gestionar la información de una agencia de motocicletas, permitiendo almacenar registros de clientes, empleados, inventario de motos y operaciones de venta. La creación de la base de datos constituye el primer paso para la implementación de un sistema de gestión de información eficiente.</vt:lpstr>
      <vt:lpstr>CREACION DE TABLA CLIENTES</vt:lpstr>
      <vt:lpstr>INGRESANDO DATOS DE CLIENTES</vt:lpstr>
      <vt:lpstr>CREACION DE LA TALA MOTOS</vt:lpstr>
      <vt:lpstr>INGRESANDO DATOS A MOTOS</vt:lpstr>
      <vt:lpstr>CREACION DE TABLA EMPLEADOS</vt:lpstr>
      <vt:lpstr>INGRESANDO DATOS A EMPLEADOS</vt:lpstr>
      <vt:lpstr>CREACCION DE TABLA VENTAS</vt:lpstr>
      <vt:lpstr>INGRESANDO DATOS A VENTAS</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3</cp:revision>
  <dcterms:created xsi:type="dcterms:W3CDTF">2026-06-06T23:06:45Z</dcterms:created>
  <dcterms:modified xsi:type="dcterms:W3CDTF">2026-06-07T00:30:24Z</dcterms:modified>
</cp:coreProperties>
</file>
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3" r:id="rId5"/>
    <p:sldId id="262" r:id="rId6"/>
    <p:sldId id="261" r:id="rId7"/>
    <p:sldId id="260" r:id="rId8"/>
    <p:sldId id="257" r:id="rId9"/>
    <p:sldId id="258" r:id="rId10"/>
    <p:sldId id="259"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0BC724-EF3E-FFD1-6242-8A38B963EC5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8D636258-C274-D453-2957-6AABD7A2D1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4806263-5024-C39E-2C36-FBCD88722092}"/>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AF56CB6B-D30C-5E60-2364-313C171710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1F5DB05-CEDB-1E60-99D0-C5C2E2D76CB5}"/>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2152470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F39C1B-ED82-4661-3270-E147A3C27CB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0102768-FB9C-794A-FD7E-7872997A17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A6E4470-C979-29E6-4CE7-078ED78172E8}"/>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48DDA478-F3CF-B4B3-0204-A86C94C4B4C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FD15E4B-9D22-769A-8190-178040B060FD}"/>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3159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A988C2-FA8B-B2B2-0413-C2CC9F391B2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358CA64-9DBF-88B3-BE2B-4F67D54F1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0FF00D9-D028-D406-859B-F1AAC5B403BB}"/>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D676F37E-4660-9096-8D69-CEDEEF0D14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F134718-13D2-864E-D466-50F3C5A5C843}"/>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903643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C1880-5E78-44AC-0C46-8BDB94C4A34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2AC091C-6DDE-BB11-7F74-3EB763E9C1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53D4E62-1944-2451-C909-5AA163F1325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B7EB4C0-82B8-C0FC-ECEE-7C32EBBA5000}"/>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6" name="Marcador de pie de página 5">
            <a:extLst>
              <a:ext uri="{FF2B5EF4-FFF2-40B4-BE49-F238E27FC236}">
                <a16:creationId xmlns:a16="http://schemas.microsoft.com/office/drawing/2014/main" id="{9A004C0E-7A3C-BF5B-853A-C89578D4263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A80FB0-3B6D-07CA-54AB-F688F8A04F7D}"/>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204154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E5FD38-48FB-1B6B-3AC9-7634483F12D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52B1BD5-3A52-0164-D811-0F36288AAD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C92D966-5014-839F-CA58-1E08E33EDE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AAC3F74-3AEC-AF15-69A0-7522CD0C8D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FA06780-52E8-4368-4219-64B383F482C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9B4BC5E-7089-B70C-B77B-1D0E6923C01A}"/>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8" name="Marcador de pie de página 7">
            <a:extLst>
              <a:ext uri="{FF2B5EF4-FFF2-40B4-BE49-F238E27FC236}">
                <a16:creationId xmlns:a16="http://schemas.microsoft.com/office/drawing/2014/main" id="{6C74F4A4-D242-3B43-9B4E-0F32AA89923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8B1C591E-F124-6261-C2C7-8595A4B6AB52}"/>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235042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5EA47E-DAAE-2366-A545-0A568FE7D5A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3CE02FF-2BFA-9BFD-4504-62AE4F93B8EE}"/>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4" name="Marcador de pie de página 3">
            <a:extLst>
              <a:ext uri="{FF2B5EF4-FFF2-40B4-BE49-F238E27FC236}">
                <a16:creationId xmlns:a16="http://schemas.microsoft.com/office/drawing/2014/main" id="{D2561C29-A979-10CA-A506-5ADD2832476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89E1711-AB43-4987-2133-1BEF92D0859B}"/>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821787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4A170BC-0FB8-A713-BBA1-5060D020BF8B}"/>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3" name="Marcador de pie de página 2">
            <a:extLst>
              <a:ext uri="{FF2B5EF4-FFF2-40B4-BE49-F238E27FC236}">
                <a16:creationId xmlns:a16="http://schemas.microsoft.com/office/drawing/2014/main" id="{D0069D55-41B8-37CE-A696-197193974A2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225E894-F296-2314-909B-B18B863F6C98}"/>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139443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DE5666-6E38-E937-6B7D-1A2815F8598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638BA15-4AAB-E742-F431-9C54779FA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6376D5B8-BDA7-D769-B360-574CA38DB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CE01613-3756-FBFF-7E1F-26FE0C9111A9}"/>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6" name="Marcador de pie de página 5">
            <a:extLst>
              <a:ext uri="{FF2B5EF4-FFF2-40B4-BE49-F238E27FC236}">
                <a16:creationId xmlns:a16="http://schemas.microsoft.com/office/drawing/2014/main" id="{3FD8C5B2-F0A8-1228-37FF-ED8B1F5D709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C86DA8A-AA4B-2A81-C59F-6AAF7D98B870}"/>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3476412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662693-26CB-0739-61BD-78182634F04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71E7695-DFBD-5716-D7F1-7A8CE5F57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8A5D36A-CAA5-7397-C05E-3065BADB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C231F83-07C1-1F01-5E1A-EF5A0E3F1EF5}"/>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6" name="Marcador de pie de página 5">
            <a:extLst>
              <a:ext uri="{FF2B5EF4-FFF2-40B4-BE49-F238E27FC236}">
                <a16:creationId xmlns:a16="http://schemas.microsoft.com/office/drawing/2014/main" id="{19127BC0-9892-4BFB-7EF7-E8FA54E70DB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AEF12EE-DCA2-5714-A103-A178D4C5BA19}"/>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2569362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F77D92-ED51-4CCC-F85C-B3714CDD2D5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3ECF1B1-073E-17A6-BB12-79250901E48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B0315D-AC39-8B45-C4DA-16F485D1CA7C}"/>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2ACB3892-BA1B-0260-28A5-2ACA032A02D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6B1EB2-048E-9E86-612D-F264A9514CB4}"/>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161881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8DC15DE-BCE5-2729-8B32-4A8249DDC8D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43B9452-8CD1-0D8A-D029-5FB0A03CAA8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F8B104F-64AC-ACA5-F569-A8CD3B93524F}"/>
              </a:ext>
            </a:extLst>
          </p:cNvPr>
          <p:cNvSpPr>
            <a:spLocks noGrp="1"/>
          </p:cNvSpPr>
          <p:nvPr>
            <p:ph type="dt" sz="half" idx="10"/>
          </p:nvPr>
        </p:nvSpPr>
        <p:spPr/>
        <p:txBody>
          <a:body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8A0D01D3-AD5C-7EAA-F1AB-9948C18BE25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FADC84-A940-7474-3149-9B9578475EF1}"/>
              </a:ext>
            </a:extLst>
          </p:cNvPr>
          <p:cNvSpPr>
            <a:spLocks noGrp="1"/>
          </p:cNvSpPr>
          <p:nvPr>
            <p:ph type="sldNum" sz="quarter" idx="12"/>
          </p:nvPr>
        </p:nvSpPr>
        <p:spPr/>
        <p:txBody>
          <a:bodyPr/>
          <a:lstStyle/>
          <a:p>
            <a:fld id="{C025871A-F6D8-493C-8015-8700F9060573}" type="slidenum">
              <a:rPr lang="es-MX" smtClean="0"/>
              <a:t>‹Nº›</a:t>
            </a:fld>
            <a:endParaRPr lang="es-MX"/>
          </a:p>
        </p:txBody>
      </p:sp>
    </p:spTree>
    <p:extLst>
      <p:ext uri="{BB962C8B-B14F-4D97-AF65-F5344CB8AC3E}">
        <p14:creationId xmlns:p14="http://schemas.microsoft.com/office/powerpoint/2010/main" val="1873662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5AD3D9D-B928-D2F1-769B-BBB85D5ED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298AD0B-EE4D-D237-A24C-9CFD536D1B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2769D10-DA0E-6A5C-6B98-B1DC995453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8DE3CC-ECF6-43C9-B7E4-156C80F62E8D}" type="datetimeFigureOut">
              <a:rPr lang="es-MX" smtClean="0"/>
              <a:t>06/06/2026</a:t>
            </a:fld>
            <a:endParaRPr lang="es-MX"/>
          </a:p>
        </p:txBody>
      </p:sp>
      <p:sp>
        <p:nvSpPr>
          <p:cNvPr id="5" name="Marcador de pie de página 4">
            <a:extLst>
              <a:ext uri="{FF2B5EF4-FFF2-40B4-BE49-F238E27FC236}">
                <a16:creationId xmlns:a16="http://schemas.microsoft.com/office/drawing/2014/main" id="{892ED8A5-E1DD-5391-F953-6EF280E33E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C26E245-A8B4-94E5-DB5A-376707702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25871A-F6D8-493C-8015-8700F9060573}" type="slidenum">
              <a:rPr lang="es-MX" smtClean="0"/>
              <a:t>‹Nº›</a:t>
            </a:fld>
            <a:endParaRPr lang="es-MX"/>
          </a:p>
        </p:txBody>
      </p:sp>
    </p:spTree>
    <p:extLst>
      <p:ext uri="{BB962C8B-B14F-4D97-AF65-F5344CB8AC3E}">
        <p14:creationId xmlns:p14="http://schemas.microsoft.com/office/powerpoint/2010/main" val="3041863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359880F2-BFBC-C728-AB00-B717F4CC2903}"/>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3.3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16 de Mayo del 2026</a:t>
            </a:r>
          </a:p>
        </p:txBody>
      </p:sp>
      <p:sp>
        <p:nvSpPr>
          <p:cNvPr id="5" name="TextBox 8">
            <a:extLst>
              <a:ext uri="{FF2B5EF4-FFF2-40B4-BE49-F238E27FC236}">
                <a16:creationId xmlns:a16="http://schemas.microsoft.com/office/drawing/2014/main" id="{7ABCF428-4AB7-B938-1A7E-456F0282B3D2}"/>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CB22BF36-0EFA-1001-AF0B-AB10DFE09A67}"/>
              </a:ext>
            </a:extLst>
          </p:cNvPr>
          <p:cNvGrpSpPr/>
          <p:nvPr/>
        </p:nvGrpSpPr>
        <p:grpSpPr>
          <a:xfrm>
            <a:off x="817249" y="31119"/>
            <a:ext cx="2709599" cy="1198176"/>
            <a:chOff x="0" y="0"/>
            <a:chExt cx="3073400" cy="1308100"/>
          </a:xfrm>
        </p:grpSpPr>
        <p:sp>
          <p:nvSpPr>
            <p:cNvPr id="7" name="Freeform 3">
              <a:extLst>
                <a:ext uri="{FF2B5EF4-FFF2-40B4-BE49-F238E27FC236}">
                  <a16:creationId xmlns:a16="http://schemas.microsoft.com/office/drawing/2014/main" id="{BE507886-716A-B475-D0D9-94BF301D816A}"/>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8FDB63AA-F238-001D-8FDB-D9250BE5A842}"/>
              </a:ext>
            </a:extLst>
          </p:cNvPr>
          <p:cNvGrpSpPr/>
          <p:nvPr/>
        </p:nvGrpSpPr>
        <p:grpSpPr>
          <a:xfrm>
            <a:off x="9481236" y="106714"/>
            <a:ext cx="1872270" cy="1245240"/>
            <a:chOff x="0" y="0"/>
            <a:chExt cx="1981200" cy="1625600"/>
          </a:xfrm>
        </p:grpSpPr>
        <p:sp>
          <p:nvSpPr>
            <p:cNvPr id="9" name="Freeform 5">
              <a:extLst>
                <a:ext uri="{FF2B5EF4-FFF2-40B4-BE49-F238E27FC236}">
                  <a16:creationId xmlns:a16="http://schemas.microsoft.com/office/drawing/2014/main" id="{542B36D4-9B18-50DC-32BA-E5C701E96C21}"/>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1AC2FE77-9D88-5878-AB22-B0005EC1B687}"/>
              </a:ext>
            </a:extLst>
          </p:cNvPr>
          <p:cNvGrpSpPr/>
          <p:nvPr/>
        </p:nvGrpSpPr>
        <p:grpSpPr>
          <a:xfrm>
            <a:off x="4307929" y="269788"/>
            <a:ext cx="3812814" cy="709234"/>
            <a:chOff x="0" y="0"/>
            <a:chExt cx="4343400" cy="901700"/>
          </a:xfrm>
        </p:grpSpPr>
        <p:sp>
          <p:nvSpPr>
            <p:cNvPr id="11" name="Freeform 7">
              <a:extLst>
                <a:ext uri="{FF2B5EF4-FFF2-40B4-BE49-F238E27FC236}">
                  <a16:creationId xmlns:a16="http://schemas.microsoft.com/office/drawing/2014/main" id="{64060EDA-18F6-B748-7D9B-8792C1EF892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2356546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D4864-7B7E-3AF3-9876-8ECAADBE39E0}"/>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942BE88D-6B1F-BF92-0B39-EC16318A2912}"/>
              </a:ext>
            </a:extLst>
          </p:cNvPr>
          <p:cNvSpPr>
            <a:spLocks noGrp="1"/>
          </p:cNvSpPr>
          <p:nvPr>
            <p:ph idx="1"/>
          </p:nvPr>
        </p:nvSpPr>
        <p:spPr/>
        <p:txBody>
          <a:bodyPr>
            <a:normAutofit/>
          </a:bodyPr>
          <a:lstStyle/>
          <a:p>
            <a:pPr marL="0" indent="0" algn="just">
              <a:buNone/>
            </a:pPr>
            <a:r>
              <a:rPr lang="es-MX" sz="2400" dirty="0"/>
              <a:t>En el presente banco de ejercicios se desarrolló una base de datos para una tienda de motos utilizando PostgreSQL. Se diseñaron las tablas Clientes, Empleados, Motos y Ventas, estableciendo relaciones entre ellas mediante claves primarias y claves foráneas. Esto permitió comprender la importancia de la integridad referencial y la organización de la información dentro de una base de datos relacional.</a:t>
            </a:r>
          </a:p>
        </p:txBody>
      </p:sp>
    </p:spTree>
    <p:extLst>
      <p:ext uri="{BB962C8B-B14F-4D97-AF65-F5344CB8AC3E}">
        <p14:creationId xmlns:p14="http://schemas.microsoft.com/office/powerpoint/2010/main" val="1967186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43B96-0EEB-8545-787E-0C77E9EB11F3}"/>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E3955A4C-168E-EA5C-FDA8-166D1843F5E1}"/>
              </a:ext>
            </a:extLst>
          </p:cNvPr>
          <p:cNvSpPr>
            <a:spLocks noGrp="1"/>
          </p:cNvSpPr>
          <p:nvPr>
            <p:ph idx="1"/>
          </p:nvPr>
        </p:nvSpPr>
        <p:spPr/>
        <p:txBody>
          <a:bodyPr>
            <a:normAutofit/>
          </a:bodyPr>
          <a:lstStyle/>
          <a:p>
            <a:pPr marL="0" indent="0" algn="just">
              <a:buNone/>
            </a:pPr>
            <a:r>
              <a:rPr lang="es-MX" sz="2400" dirty="0"/>
              <a:t>Este banco de ejercicios permitió aplicar los conocimientos relacionados con el diseño y administración de bases de datos relacionales. A través de la creación de tablas, inserción de registros y establecimiento de relaciones entre entidades, fue posible comprender la importancia de mantener una estructura organizada y eficiente para el almacenamiento de información.</a:t>
            </a:r>
          </a:p>
        </p:txBody>
      </p:sp>
    </p:spTree>
    <p:extLst>
      <p:ext uri="{BB962C8B-B14F-4D97-AF65-F5344CB8AC3E}">
        <p14:creationId xmlns:p14="http://schemas.microsoft.com/office/powerpoint/2010/main" val="3649276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63D379-3247-D5C2-0555-11FEF2507EC2}"/>
              </a:ext>
            </a:extLst>
          </p:cNvPr>
          <p:cNvSpPr>
            <a:spLocks noGrp="1"/>
          </p:cNvSpPr>
          <p:nvPr>
            <p:ph type="title"/>
          </p:nvPr>
        </p:nvSpPr>
        <p:spPr/>
        <p:txBody>
          <a:bodyPr/>
          <a:lstStyle/>
          <a:p>
            <a:r>
              <a:rPr lang="es-MX" dirty="0"/>
              <a:t>Tabla clientes</a:t>
            </a:r>
          </a:p>
        </p:txBody>
      </p:sp>
      <p:pic>
        <p:nvPicPr>
          <p:cNvPr id="5" name="Marcador de contenido 4">
            <a:extLst>
              <a:ext uri="{FF2B5EF4-FFF2-40B4-BE49-F238E27FC236}">
                <a16:creationId xmlns:a16="http://schemas.microsoft.com/office/drawing/2014/main" id="{40496F4D-DF59-E76C-12E1-52A68C0376BD}"/>
              </a:ext>
            </a:extLst>
          </p:cNvPr>
          <p:cNvPicPr>
            <a:picLocks noGrp="1" noChangeAspect="1"/>
          </p:cNvPicPr>
          <p:nvPr>
            <p:ph idx="1"/>
          </p:nvPr>
        </p:nvPicPr>
        <p:blipFill>
          <a:blip r:embed="rId2"/>
          <a:stretch>
            <a:fillRect/>
          </a:stretch>
        </p:blipFill>
        <p:spPr>
          <a:xfrm>
            <a:off x="203200" y="4482615"/>
            <a:ext cx="8318500" cy="2202850"/>
          </a:xfrm>
        </p:spPr>
      </p:pic>
      <p:pic>
        <p:nvPicPr>
          <p:cNvPr id="7" name="Imagen 6">
            <a:extLst>
              <a:ext uri="{FF2B5EF4-FFF2-40B4-BE49-F238E27FC236}">
                <a16:creationId xmlns:a16="http://schemas.microsoft.com/office/drawing/2014/main" id="{4401559E-FB91-1988-096A-1497151ABA77}"/>
              </a:ext>
            </a:extLst>
          </p:cNvPr>
          <p:cNvPicPr>
            <a:picLocks noChangeAspect="1"/>
          </p:cNvPicPr>
          <p:nvPr/>
        </p:nvPicPr>
        <p:blipFill>
          <a:blip r:embed="rId3"/>
          <a:stretch>
            <a:fillRect/>
          </a:stretch>
        </p:blipFill>
        <p:spPr>
          <a:xfrm>
            <a:off x="4460794" y="1594455"/>
            <a:ext cx="4857124" cy="2523974"/>
          </a:xfrm>
          <a:prstGeom prst="rect">
            <a:avLst/>
          </a:prstGeom>
        </p:spPr>
      </p:pic>
      <p:pic>
        <p:nvPicPr>
          <p:cNvPr id="9" name="Imagen 8">
            <a:extLst>
              <a:ext uri="{FF2B5EF4-FFF2-40B4-BE49-F238E27FC236}">
                <a16:creationId xmlns:a16="http://schemas.microsoft.com/office/drawing/2014/main" id="{CBEEEE25-DA42-8FEA-8580-4815789520C6}"/>
              </a:ext>
            </a:extLst>
          </p:cNvPr>
          <p:cNvPicPr>
            <a:picLocks noChangeAspect="1"/>
          </p:cNvPicPr>
          <p:nvPr/>
        </p:nvPicPr>
        <p:blipFill>
          <a:blip r:embed="rId4"/>
          <a:stretch>
            <a:fillRect/>
          </a:stretch>
        </p:blipFill>
        <p:spPr>
          <a:xfrm>
            <a:off x="9425441" y="2039038"/>
            <a:ext cx="2563359" cy="4453837"/>
          </a:xfrm>
          <a:prstGeom prst="rect">
            <a:avLst/>
          </a:prstGeom>
        </p:spPr>
      </p:pic>
      <p:sp>
        <p:nvSpPr>
          <p:cNvPr id="11" name="CuadroTexto 10">
            <a:extLst>
              <a:ext uri="{FF2B5EF4-FFF2-40B4-BE49-F238E27FC236}">
                <a16:creationId xmlns:a16="http://schemas.microsoft.com/office/drawing/2014/main" id="{552EBEAA-37FF-359A-3C94-5BBC49B021AB}"/>
              </a:ext>
            </a:extLst>
          </p:cNvPr>
          <p:cNvSpPr txBox="1"/>
          <p:nvPr/>
        </p:nvSpPr>
        <p:spPr>
          <a:xfrm>
            <a:off x="203200" y="1594455"/>
            <a:ext cx="3948879" cy="2862322"/>
          </a:xfrm>
          <a:prstGeom prst="rect">
            <a:avLst/>
          </a:prstGeom>
          <a:noFill/>
        </p:spPr>
        <p:txBody>
          <a:bodyPr wrap="square">
            <a:spAutoFit/>
          </a:bodyPr>
          <a:lstStyle/>
          <a:p>
            <a:pPr algn="just"/>
            <a:r>
              <a:rPr lang="es-MX" dirty="0"/>
              <a:t>La tabla Clientes almacena la información de las personas que realizan compras dentro de la tienda de motos. Contiene datos como identificador del cliente, nombre, apellido, teléfono, correo electrónico y dirección. Esta información permite identificar a cada comprador y relacionarlo con las ventas registradas.</a:t>
            </a:r>
          </a:p>
        </p:txBody>
      </p:sp>
    </p:spTree>
    <p:extLst>
      <p:ext uri="{BB962C8B-B14F-4D97-AF65-F5344CB8AC3E}">
        <p14:creationId xmlns:p14="http://schemas.microsoft.com/office/powerpoint/2010/main" val="1002566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07176A-2306-0F19-883B-4FA1BF316250}"/>
              </a:ext>
            </a:extLst>
          </p:cNvPr>
          <p:cNvSpPr>
            <a:spLocks noGrp="1"/>
          </p:cNvSpPr>
          <p:nvPr>
            <p:ph type="title"/>
          </p:nvPr>
        </p:nvSpPr>
        <p:spPr/>
        <p:txBody>
          <a:bodyPr/>
          <a:lstStyle/>
          <a:p>
            <a:r>
              <a:rPr lang="es-MX" dirty="0"/>
              <a:t>Tabla empleados</a:t>
            </a:r>
          </a:p>
        </p:txBody>
      </p:sp>
      <p:pic>
        <p:nvPicPr>
          <p:cNvPr id="5" name="Marcador de contenido 4">
            <a:extLst>
              <a:ext uri="{FF2B5EF4-FFF2-40B4-BE49-F238E27FC236}">
                <a16:creationId xmlns:a16="http://schemas.microsoft.com/office/drawing/2014/main" id="{B095C66D-AE38-726D-2DA5-43070C420F48}"/>
              </a:ext>
            </a:extLst>
          </p:cNvPr>
          <p:cNvPicPr>
            <a:picLocks noGrp="1" noChangeAspect="1"/>
          </p:cNvPicPr>
          <p:nvPr>
            <p:ph idx="1"/>
          </p:nvPr>
        </p:nvPicPr>
        <p:blipFill>
          <a:blip r:embed="rId2"/>
          <a:stretch>
            <a:fillRect/>
          </a:stretch>
        </p:blipFill>
        <p:spPr>
          <a:xfrm>
            <a:off x="163286" y="4691743"/>
            <a:ext cx="7411851" cy="1969200"/>
          </a:xfrm>
        </p:spPr>
      </p:pic>
      <p:pic>
        <p:nvPicPr>
          <p:cNvPr id="7" name="Imagen 6">
            <a:extLst>
              <a:ext uri="{FF2B5EF4-FFF2-40B4-BE49-F238E27FC236}">
                <a16:creationId xmlns:a16="http://schemas.microsoft.com/office/drawing/2014/main" id="{DEAF51CE-0666-B464-7211-35A2DAC89EA2}"/>
              </a:ext>
            </a:extLst>
          </p:cNvPr>
          <p:cNvPicPr>
            <a:picLocks noChangeAspect="1"/>
          </p:cNvPicPr>
          <p:nvPr/>
        </p:nvPicPr>
        <p:blipFill>
          <a:blip r:embed="rId3"/>
          <a:stretch>
            <a:fillRect/>
          </a:stretch>
        </p:blipFill>
        <p:spPr>
          <a:xfrm>
            <a:off x="335915" y="1465263"/>
            <a:ext cx="5760085" cy="2986600"/>
          </a:xfrm>
          <a:prstGeom prst="rect">
            <a:avLst/>
          </a:prstGeom>
        </p:spPr>
      </p:pic>
      <p:pic>
        <p:nvPicPr>
          <p:cNvPr id="9" name="Imagen 8">
            <a:extLst>
              <a:ext uri="{FF2B5EF4-FFF2-40B4-BE49-F238E27FC236}">
                <a16:creationId xmlns:a16="http://schemas.microsoft.com/office/drawing/2014/main" id="{32C9E855-78F4-0615-DF17-2662FDB5A9B0}"/>
              </a:ext>
            </a:extLst>
          </p:cNvPr>
          <p:cNvPicPr>
            <a:picLocks noChangeAspect="1"/>
          </p:cNvPicPr>
          <p:nvPr/>
        </p:nvPicPr>
        <p:blipFill>
          <a:blip r:embed="rId4"/>
          <a:stretch>
            <a:fillRect/>
          </a:stretch>
        </p:blipFill>
        <p:spPr>
          <a:xfrm>
            <a:off x="7899401" y="2491507"/>
            <a:ext cx="3642488" cy="3844185"/>
          </a:xfrm>
          <a:prstGeom prst="rect">
            <a:avLst/>
          </a:prstGeom>
        </p:spPr>
      </p:pic>
      <p:sp>
        <p:nvSpPr>
          <p:cNvPr id="11" name="CuadroTexto 10">
            <a:extLst>
              <a:ext uri="{FF2B5EF4-FFF2-40B4-BE49-F238E27FC236}">
                <a16:creationId xmlns:a16="http://schemas.microsoft.com/office/drawing/2014/main" id="{ABC61394-0D73-429C-AB2D-3015D477513C}"/>
              </a:ext>
            </a:extLst>
          </p:cNvPr>
          <p:cNvSpPr txBox="1"/>
          <p:nvPr/>
        </p:nvSpPr>
        <p:spPr>
          <a:xfrm>
            <a:off x="6010456" y="551666"/>
            <a:ext cx="6096000" cy="1477328"/>
          </a:xfrm>
          <a:prstGeom prst="rect">
            <a:avLst/>
          </a:prstGeom>
          <a:noFill/>
        </p:spPr>
        <p:txBody>
          <a:bodyPr wrap="square">
            <a:spAutoFit/>
          </a:bodyPr>
          <a:lstStyle/>
          <a:p>
            <a:pPr algn="just"/>
            <a:r>
              <a:rPr lang="es-MX" dirty="0"/>
              <a:t>La tabla Empleados registra la información del personal que trabaja en la tienda. Incluye datos como identificador, nombre, apellido, puesto, teléfono y salario. Cada empleado puede participar en múltiples ventas, permitiendo llevar un control de las operaciones realizadas.</a:t>
            </a:r>
          </a:p>
        </p:txBody>
      </p:sp>
    </p:spTree>
    <p:extLst>
      <p:ext uri="{BB962C8B-B14F-4D97-AF65-F5344CB8AC3E}">
        <p14:creationId xmlns:p14="http://schemas.microsoft.com/office/powerpoint/2010/main" val="2529051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994C9F-1B49-6C0F-E91E-1564F4E475C7}"/>
              </a:ext>
            </a:extLst>
          </p:cNvPr>
          <p:cNvSpPr>
            <a:spLocks noGrp="1"/>
          </p:cNvSpPr>
          <p:nvPr>
            <p:ph type="title"/>
          </p:nvPr>
        </p:nvSpPr>
        <p:spPr/>
        <p:txBody>
          <a:bodyPr/>
          <a:lstStyle/>
          <a:p>
            <a:r>
              <a:rPr lang="es-MX" dirty="0"/>
              <a:t>Tabla motos</a:t>
            </a:r>
          </a:p>
        </p:txBody>
      </p:sp>
      <p:pic>
        <p:nvPicPr>
          <p:cNvPr id="5" name="Marcador de contenido 4">
            <a:extLst>
              <a:ext uri="{FF2B5EF4-FFF2-40B4-BE49-F238E27FC236}">
                <a16:creationId xmlns:a16="http://schemas.microsoft.com/office/drawing/2014/main" id="{CC067D63-A4C2-0D7A-3E45-DD00D1A3C137}"/>
              </a:ext>
            </a:extLst>
          </p:cNvPr>
          <p:cNvPicPr>
            <a:picLocks noGrp="1" noChangeAspect="1"/>
          </p:cNvPicPr>
          <p:nvPr>
            <p:ph idx="1"/>
          </p:nvPr>
        </p:nvPicPr>
        <p:blipFill>
          <a:blip r:embed="rId2"/>
          <a:stretch>
            <a:fillRect/>
          </a:stretch>
        </p:blipFill>
        <p:spPr>
          <a:xfrm>
            <a:off x="7111571" y="3917520"/>
            <a:ext cx="4688543" cy="2494167"/>
          </a:xfrm>
        </p:spPr>
      </p:pic>
      <p:pic>
        <p:nvPicPr>
          <p:cNvPr id="7" name="Imagen 6">
            <a:extLst>
              <a:ext uri="{FF2B5EF4-FFF2-40B4-BE49-F238E27FC236}">
                <a16:creationId xmlns:a16="http://schemas.microsoft.com/office/drawing/2014/main" id="{ED823AC6-00E3-A4B1-E709-71BD6795F8FD}"/>
              </a:ext>
            </a:extLst>
          </p:cNvPr>
          <p:cNvPicPr>
            <a:picLocks noChangeAspect="1"/>
          </p:cNvPicPr>
          <p:nvPr/>
        </p:nvPicPr>
        <p:blipFill>
          <a:blip r:embed="rId3"/>
          <a:stretch>
            <a:fillRect/>
          </a:stretch>
        </p:blipFill>
        <p:spPr>
          <a:xfrm>
            <a:off x="99571" y="1581388"/>
            <a:ext cx="6468967" cy="1847612"/>
          </a:xfrm>
          <a:prstGeom prst="rect">
            <a:avLst/>
          </a:prstGeom>
        </p:spPr>
      </p:pic>
      <p:pic>
        <p:nvPicPr>
          <p:cNvPr id="9" name="Imagen 8">
            <a:extLst>
              <a:ext uri="{FF2B5EF4-FFF2-40B4-BE49-F238E27FC236}">
                <a16:creationId xmlns:a16="http://schemas.microsoft.com/office/drawing/2014/main" id="{57F9CB57-83E2-9DE4-23C5-66F4DB1248EF}"/>
              </a:ext>
            </a:extLst>
          </p:cNvPr>
          <p:cNvPicPr>
            <a:picLocks noChangeAspect="1"/>
          </p:cNvPicPr>
          <p:nvPr/>
        </p:nvPicPr>
        <p:blipFill>
          <a:blip r:embed="rId4"/>
          <a:stretch>
            <a:fillRect/>
          </a:stretch>
        </p:blipFill>
        <p:spPr>
          <a:xfrm>
            <a:off x="8243228" y="164507"/>
            <a:ext cx="2425227" cy="3645664"/>
          </a:xfrm>
          <a:prstGeom prst="rect">
            <a:avLst/>
          </a:prstGeom>
        </p:spPr>
      </p:pic>
      <p:sp>
        <p:nvSpPr>
          <p:cNvPr id="11" name="CuadroTexto 10">
            <a:extLst>
              <a:ext uri="{FF2B5EF4-FFF2-40B4-BE49-F238E27FC236}">
                <a16:creationId xmlns:a16="http://schemas.microsoft.com/office/drawing/2014/main" id="{4E72875A-EF49-88C2-6916-38D3A122054E}"/>
              </a:ext>
            </a:extLst>
          </p:cNvPr>
          <p:cNvSpPr txBox="1"/>
          <p:nvPr/>
        </p:nvSpPr>
        <p:spPr>
          <a:xfrm>
            <a:off x="391886" y="4425939"/>
            <a:ext cx="6096000" cy="1477328"/>
          </a:xfrm>
          <a:prstGeom prst="rect">
            <a:avLst/>
          </a:prstGeom>
          <a:noFill/>
        </p:spPr>
        <p:txBody>
          <a:bodyPr wrap="square">
            <a:spAutoFit/>
          </a:bodyPr>
          <a:lstStyle/>
          <a:p>
            <a:pPr algn="just"/>
            <a:r>
              <a:rPr lang="es-MX" dirty="0"/>
              <a:t>La tabla Motos contiene el inventario de motocicletas disponibles para la venta. Se registran características como marca, modelo, cilindrada, color, precio y stock disponible. Esta tabla es fundamental para controlar los productos comercializados por la empresa</a:t>
            </a:r>
          </a:p>
        </p:txBody>
      </p:sp>
    </p:spTree>
    <p:extLst>
      <p:ext uri="{BB962C8B-B14F-4D97-AF65-F5344CB8AC3E}">
        <p14:creationId xmlns:p14="http://schemas.microsoft.com/office/powerpoint/2010/main" val="153525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E494C5-70BD-11E3-E6D3-C5FEE22DC3FE}"/>
              </a:ext>
            </a:extLst>
          </p:cNvPr>
          <p:cNvSpPr>
            <a:spLocks noGrp="1"/>
          </p:cNvSpPr>
          <p:nvPr>
            <p:ph type="title"/>
          </p:nvPr>
        </p:nvSpPr>
        <p:spPr/>
        <p:txBody>
          <a:bodyPr/>
          <a:lstStyle/>
          <a:p>
            <a:r>
              <a:rPr lang="es-MX" dirty="0"/>
              <a:t>Tabla ventas</a:t>
            </a:r>
          </a:p>
        </p:txBody>
      </p:sp>
      <p:pic>
        <p:nvPicPr>
          <p:cNvPr id="5" name="Marcador de contenido 4">
            <a:extLst>
              <a:ext uri="{FF2B5EF4-FFF2-40B4-BE49-F238E27FC236}">
                <a16:creationId xmlns:a16="http://schemas.microsoft.com/office/drawing/2014/main" id="{1CC4C00B-6A9B-2300-DD68-F82368A1022E}"/>
              </a:ext>
            </a:extLst>
          </p:cNvPr>
          <p:cNvPicPr>
            <a:picLocks noGrp="1" noChangeAspect="1"/>
          </p:cNvPicPr>
          <p:nvPr>
            <p:ph idx="1"/>
          </p:nvPr>
        </p:nvPicPr>
        <p:blipFill>
          <a:blip r:embed="rId2"/>
          <a:stretch>
            <a:fillRect/>
          </a:stretch>
        </p:blipFill>
        <p:spPr>
          <a:xfrm>
            <a:off x="249075" y="1690688"/>
            <a:ext cx="4703925" cy="2473299"/>
          </a:xfrm>
        </p:spPr>
      </p:pic>
      <p:pic>
        <p:nvPicPr>
          <p:cNvPr id="7" name="Imagen 6">
            <a:extLst>
              <a:ext uri="{FF2B5EF4-FFF2-40B4-BE49-F238E27FC236}">
                <a16:creationId xmlns:a16="http://schemas.microsoft.com/office/drawing/2014/main" id="{9629476C-B6DA-CAD7-FC6F-0864F44CA3BC}"/>
              </a:ext>
            </a:extLst>
          </p:cNvPr>
          <p:cNvPicPr>
            <a:picLocks noChangeAspect="1"/>
          </p:cNvPicPr>
          <p:nvPr/>
        </p:nvPicPr>
        <p:blipFill>
          <a:blip r:embed="rId3"/>
          <a:stretch>
            <a:fillRect/>
          </a:stretch>
        </p:blipFill>
        <p:spPr>
          <a:xfrm>
            <a:off x="0" y="4920848"/>
            <a:ext cx="6739860" cy="1937152"/>
          </a:xfrm>
          <a:prstGeom prst="rect">
            <a:avLst/>
          </a:prstGeom>
        </p:spPr>
      </p:pic>
      <p:pic>
        <p:nvPicPr>
          <p:cNvPr id="9" name="Imagen 8">
            <a:extLst>
              <a:ext uri="{FF2B5EF4-FFF2-40B4-BE49-F238E27FC236}">
                <a16:creationId xmlns:a16="http://schemas.microsoft.com/office/drawing/2014/main" id="{6D536917-12E7-385A-8569-FF35C81BCC01}"/>
              </a:ext>
            </a:extLst>
          </p:cNvPr>
          <p:cNvPicPr>
            <a:picLocks noChangeAspect="1"/>
          </p:cNvPicPr>
          <p:nvPr/>
        </p:nvPicPr>
        <p:blipFill>
          <a:blip r:embed="rId4"/>
          <a:stretch>
            <a:fillRect/>
          </a:stretch>
        </p:blipFill>
        <p:spPr>
          <a:xfrm>
            <a:off x="5306147" y="705924"/>
            <a:ext cx="2867425" cy="4096322"/>
          </a:xfrm>
          <a:prstGeom prst="rect">
            <a:avLst/>
          </a:prstGeom>
        </p:spPr>
      </p:pic>
      <p:sp>
        <p:nvSpPr>
          <p:cNvPr id="11" name="CuadroTexto 10">
            <a:extLst>
              <a:ext uri="{FF2B5EF4-FFF2-40B4-BE49-F238E27FC236}">
                <a16:creationId xmlns:a16="http://schemas.microsoft.com/office/drawing/2014/main" id="{A1ED710A-E36F-26C7-3CE2-8BFD34A26284}"/>
              </a:ext>
            </a:extLst>
          </p:cNvPr>
          <p:cNvSpPr txBox="1"/>
          <p:nvPr/>
        </p:nvSpPr>
        <p:spPr>
          <a:xfrm>
            <a:off x="6739859" y="5150760"/>
            <a:ext cx="5236241" cy="1754326"/>
          </a:xfrm>
          <a:prstGeom prst="rect">
            <a:avLst/>
          </a:prstGeom>
          <a:noFill/>
        </p:spPr>
        <p:txBody>
          <a:bodyPr wrap="square">
            <a:spAutoFit/>
          </a:bodyPr>
          <a:lstStyle/>
          <a:p>
            <a:r>
              <a:rPr lang="es-MX" dirty="0"/>
              <a:t>La tabla Ventas registra las transacciones realizadas dentro de la tienda. En ella se almacena información relacionada con el cliente que realizó la compra, la motocicleta vendida, el empleado responsable de la venta, la fecha de la operación y el importe correspondiente.</a:t>
            </a:r>
          </a:p>
        </p:txBody>
      </p:sp>
    </p:spTree>
    <p:extLst>
      <p:ext uri="{BB962C8B-B14F-4D97-AF65-F5344CB8AC3E}">
        <p14:creationId xmlns:p14="http://schemas.microsoft.com/office/powerpoint/2010/main" val="126649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DE8BE0-989D-6942-0E7F-7AD66AB67E50}"/>
              </a:ext>
            </a:extLst>
          </p:cNvPr>
          <p:cNvSpPr>
            <a:spLocks noGrp="1"/>
          </p:cNvSpPr>
          <p:nvPr>
            <p:ph type="title"/>
          </p:nvPr>
        </p:nvSpPr>
        <p:spPr/>
        <p:txBody>
          <a:bodyPr/>
          <a:lstStyle/>
          <a:p>
            <a:r>
              <a:rPr lang="es-MX" dirty="0"/>
              <a:t>RELACION ENTRE TABLAS</a:t>
            </a:r>
          </a:p>
        </p:txBody>
      </p:sp>
      <p:pic>
        <p:nvPicPr>
          <p:cNvPr id="5" name="Marcador de contenido 4">
            <a:extLst>
              <a:ext uri="{FF2B5EF4-FFF2-40B4-BE49-F238E27FC236}">
                <a16:creationId xmlns:a16="http://schemas.microsoft.com/office/drawing/2014/main" id="{5BA4E7E9-684D-2DA0-2D64-4D69505F6145}"/>
              </a:ext>
            </a:extLst>
          </p:cNvPr>
          <p:cNvPicPr>
            <a:picLocks noGrp="1" noChangeAspect="1"/>
          </p:cNvPicPr>
          <p:nvPr>
            <p:ph idx="1"/>
          </p:nvPr>
        </p:nvPicPr>
        <p:blipFill>
          <a:blip r:embed="rId2"/>
          <a:stretch>
            <a:fillRect/>
          </a:stretch>
        </p:blipFill>
        <p:spPr>
          <a:xfrm>
            <a:off x="838200" y="1453318"/>
            <a:ext cx="4864471" cy="3579812"/>
          </a:xfrm>
        </p:spPr>
      </p:pic>
      <p:pic>
        <p:nvPicPr>
          <p:cNvPr id="9" name="Imagen 8">
            <a:extLst>
              <a:ext uri="{FF2B5EF4-FFF2-40B4-BE49-F238E27FC236}">
                <a16:creationId xmlns:a16="http://schemas.microsoft.com/office/drawing/2014/main" id="{1FC5302A-4D3D-34AF-DE81-1FF0926A40F1}"/>
              </a:ext>
            </a:extLst>
          </p:cNvPr>
          <p:cNvPicPr>
            <a:picLocks noChangeAspect="1"/>
          </p:cNvPicPr>
          <p:nvPr/>
        </p:nvPicPr>
        <p:blipFill>
          <a:blip r:embed="rId3"/>
          <a:stretch>
            <a:fillRect/>
          </a:stretch>
        </p:blipFill>
        <p:spPr>
          <a:xfrm>
            <a:off x="5467666" y="1330249"/>
            <a:ext cx="4657450" cy="3825951"/>
          </a:xfrm>
          <a:prstGeom prst="rect">
            <a:avLst/>
          </a:prstGeom>
        </p:spPr>
      </p:pic>
      <p:sp>
        <p:nvSpPr>
          <p:cNvPr id="11" name="CuadroTexto 10">
            <a:extLst>
              <a:ext uri="{FF2B5EF4-FFF2-40B4-BE49-F238E27FC236}">
                <a16:creationId xmlns:a16="http://schemas.microsoft.com/office/drawing/2014/main" id="{B248C6EB-9ADB-B09B-B044-13AFB8618C84}"/>
              </a:ext>
            </a:extLst>
          </p:cNvPr>
          <p:cNvSpPr txBox="1"/>
          <p:nvPr/>
        </p:nvSpPr>
        <p:spPr>
          <a:xfrm>
            <a:off x="1384300" y="5156199"/>
            <a:ext cx="9245600" cy="1200329"/>
          </a:xfrm>
          <a:prstGeom prst="rect">
            <a:avLst/>
          </a:prstGeom>
          <a:noFill/>
        </p:spPr>
        <p:txBody>
          <a:bodyPr wrap="square">
            <a:spAutoFit/>
          </a:bodyPr>
          <a:lstStyle/>
          <a:p>
            <a:r>
              <a:rPr lang="es-MX" dirty="0"/>
              <a:t>Las tablas de la base de datos se encuentran relacionadas entre sí mediante claves primarias y claves foráneas. La tabla Ventas funciona como tabla principal de relación, ya que conecta la información de los clientes, empleados y motos. Gracias a estas relaciones es posible mantener la integridad de los datos y evitar inconsistencias dentro del sistema.</a:t>
            </a:r>
          </a:p>
        </p:txBody>
      </p:sp>
    </p:spTree>
    <p:extLst>
      <p:ext uri="{BB962C8B-B14F-4D97-AF65-F5344CB8AC3E}">
        <p14:creationId xmlns:p14="http://schemas.microsoft.com/office/powerpoint/2010/main" val="3258068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6519E-3BFE-A456-6D1A-F5DE1A6200E8}"/>
              </a:ext>
            </a:extLst>
          </p:cNvPr>
          <p:cNvSpPr>
            <a:spLocks noGrp="1"/>
          </p:cNvSpPr>
          <p:nvPr>
            <p:ph type="title"/>
          </p:nvPr>
        </p:nvSpPr>
        <p:spPr/>
        <p:txBody>
          <a:bodyPr/>
          <a:lstStyle/>
          <a:p>
            <a:r>
              <a:rPr lang="es-MX" dirty="0"/>
              <a:t>Consulta de ventas por empleados</a:t>
            </a:r>
          </a:p>
        </p:txBody>
      </p:sp>
      <p:pic>
        <p:nvPicPr>
          <p:cNvPr id="5" name="Marcador de contenido 4">
            <a:extLst>
              <a:ext uri="{FF2B5EF4-FFF2-40B4-BE49-F238E27FC236}">
                <a16:creationId xmlns:a16="http://schemas.microsoft.com/office/drawing/2014/main" id="{DD2653C7-09FF-5F6C-3E13-90C36FF6F1D8}"/>
              </a:ext>
            </a:extLst>
          </p:cNvPr>
          <p:cNvPicPr>
            <a:picLocks noGrp="1" noChangeAspect="1"/>
          </p:cNvPicPr>
          <p:nvPr>
            <p:ph idx="1"/>
          </p:nvPr>
        </p:nvPicPr>
        <p:blipFill>
          <a:blip r:embed="rId2"/>
          <a:stretch>
            <a:fillRect/>
          </a:stretch>
        </p:blipFill>
        <p:spPr>
          <a:xfrm>
            <a:off x="713548" y="1748064"/>
            <a:ext cx="4963556" cy="2496004"/>
          </a:xfrm>
        </p:spPr>
      </p:pic>
      <p:pic>
        <p:nvPicPr>
          <p:cNvPr id="7" name="Imagen 6">
            <a:extLst>
              <a:ext uri="{FF2B5EF4-FFF2-40B4-BE49-F238E27FC236}">
                <a16:creationId xmlns:a16="http://schemas.microsoft.com/office/drawing/2014/main" id="{2496BBC5-42A8-68F0-3F90-A5FC0305273F}"/>
              </a:ext>
            </a:extLst>
          </p:cNvPr>
          <p:cNvPicPr>
            <a:picLocks noChangeAspect="1"/>
          </p:cNvPicPr>
          <p:nvPr/>
        </p:nvPicPr>
        <p:blipFill>
          <a:blip r:embed="rId3"/>
          <a:stretch>
            <a:fillRect/>
          </a:stretch>
        </p:blipFill>
        <p:spPr>
          <a:xfrm>
            <a:off x="6067763" y="1748064"/>
            <a:ext cx="5410689" cy="4984303"/>
          </a:xfrm>
          <a:prstGeom prst="rect">
            <a:avLst/>
          </a:prstGeom>
        </p:spPr>
      </p:pic>
      <p:sp>
        <p:nvSpPr>
          <p:cNvPr id="9" name="CuadroTexto 8">
            <a:extLst>
              <a:ext uri="{FF2B5EF4-FFF2-40B4-BE49-F238E27FC236}">
                <a16:creationId xmlns:a16="http://schemas.microsoft.com/office/drawing/2014/main" id="{D6D146A7-4282-736F-A32D-EB25FFB76E8F}"/>
              </a:ext>
            </a:extLst>
          </p:cNvPr>
          <p:cNvSpPr txBox="1"/>
          <p:nvPr/>
        </p:nvSpPr>
        <p:spPr>
          <a:xfrm>
            <a:off x="-28237" y="4671536"/>
            <a:ext cx="6096000" cy="1477328"/>
          </a:xfrm>
          <a:prstGeom prst="rect">
            <a:avLst/>
          </a:prstGeom>
          <a:noFill/>
        </p:spPr>
        <p:txBody>
          <a:bodyPr wrap="square">
            <a:spAutoFit/>
          </a:bodyPr>
          <a:lstStyle/>
          <a:p>
            <a:pPr algn="just"/>
            <a:r>
              <a:rPr lang="es-MX" dirty="0"/>
              <a:t>Mediante consultas SQL se obtuvo información sobre la cantidad de ventas realizadas por cada empleado. Este tipo de consultas permite evaluar el desempeño del personal y generar reportes útiles para la toma de decisiones dentro de la empresa.</a:t>
            </a:r>
          </a:p>
        </p:txBody>
      </p:sp>
    </p:spTree>
    <p:extLst>
      <p:ext uri="{BB962C8B-B14F-4D97-AF65-F5344CB8AC3E}">
        <p14:creationId xmlns:p14="http://schemas.microsoft.com/office/powerpoint/2010/main" val="199383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DC773-A06F-BF36-0E15-28DA65C12B20}"/>
              </a:ext>
            </a:extLst>
          </p:cNvPr>
          <p:cNvSpPr>
            <a:spLocks noGrp="1"/>
          </p:cNvSpPr>
          <p:nvPr>
            <p:ph type="title"/>
          </p:nvPr>
        </p:nvSpPr>
        <p:spPr/>
        <p:txBody>
          <a:bodyPr/>
          <a:lstStyle/>
          <a:p>
            <a:r>
              <a:rPr lang="es-MX" dirty="0"/>
              <a:t>Consulta de moto mas vendida</a:t>
            </a:r>
          </a:p>
        </p:txBody>
      </p:sp>
      <p:pic>
        <p:nvPicPr>
          <p:cNvPr id="5" name="Marcador de contenido 4">
            <a:extLst>
              <a:ext uri="{FF2B5EF4-FFF2-40B4-BE49-F238E27FC236}">
                <a16:creationId xmlns:a16="http://schemas.microsoft.com/office/drawing/2014/main" id="{E95F076F-8AC8-61CB-F553-6F69C5AB2450}"/>
              </a:ext>
            </a:extLst>
          </p:cNvPr>
          <p:cNvPicPr>
            <a:picLocks noGrp="1" noChangeAspect="1"/>
          </p:cNvPicPr>
          <p:nvPr>
            <p:ph idx="1"/>
          </p:nvPr>
        </p:nvPicPr>
        <p:blipFill>
          <a:blip r:embed="rId2"/>
          <a:stretch>
            <a:fillRect/>
          </a:stretch>
        </p:blipFill>
        <p:spPr>
          <a:xfrm>
            <a:off x="522784" y="1591924"/>
            <a:ext cx="5877745" cy="3229426"/>
          </a:xfrm>
        </p:spPr>
      </p:pic>
      <p:pic>
        <p:nvPicPr>
          <p:cNvPr id="7" name="Imagen 6">
            <a:extLst>
              <a:ext uri="{FF2B5EF4-FFF2-40B4-BE49-F238E27FC236}">
                <a16:creationId xmlns:a16="http://schemas.microsoft.com/office/drawing/2014/main" id="{5BC1AD8C-BBFB-70BA-E128-AA031BCD5C86}"/>
              </a:ext>
            </a:extLst>
          </p:cNvPr>
          <p:cNvPicPr>
            <a:picLocks noChangeAspect="1"/>
          </p:cNvPicPr>
          <p:nvPr/>
        </p:nvPicPr>
        <p:blipFill>
          <a:blip r:embed="rId3"/>
          <a:stretch>
            <a:fillRect/>
          </a:stretch>
        </p:blipFill>
        <p:spPr>
          <a:xfrm>
            <a:off x="6945881" y="1591924"/>
            <a:ext cx="4330923" cy="4388076"/>
          </a:xfrm>
          <a:prstGeom prst="rect">
            <a:avLst/>
          </a:prstGeom>
        </p:spPr>
      </p:pic>
      <p:sp>
        <p:nvSpPr>
          <p:cNvPr id="9" name="CuadroTexto 8">
            <a:extLst>
              <a:ext uri="{FF2B5EF4-FFF2-40B4-BE49-F238E27FC236}">
                <a16:creationId xmlns:a16="http://schemas.microsoft.com/office/drawing/2014/main" id="{BE424FED-D0CB-8ADA-6032-179E8853C1C0}"/>
              </a:ext>
            </a:extLst>
          </p:cNvPr>
          <p:cNvSpPr txBox="1"/>
          <p:nvPr/>
        </p:nvSpPr>
        <p:spPr>
          <a:xfrm>
            <a:off x="838200" y="4821350"/>
            <a:ext cx="6096000" cy="1477328"/>
          </a:xfrm>
          <a:prstGeom prst="rect">
            <a:avLst/>
          </a:prstGeom>
          <a:noFill/>
        </p:spPr>
        <p:txBody>
          <a:bodyPr wrap="square">
            <a:spAutoFit/>
          </a:bodyPr>
          <a:lstStyle/>
          <a:p>
            <a:pPr algn="just"/>
            <a:r>
              <a:rPr lang="es-MX" dirty="0"/>
              <a:t>A través de consultas de agrupación y conteo fue posible identificar las motocicletas con mayor número de ventas. Esta información resulta importante para conocer los productos con mayor demanda y apoyar la gestión del inventario.</a:t>
            </a:r>
          </a:p>
        </p:txBody>
      </p:sp>
    </p:spTree>
    <p:extLst>
      <p:ext uri="{BB962C8B-B14F-4D97-AF65-F5344CB8AC3E}">
        <p14:creationId xmlns:p14="http://schemas.microsoft.com/office/powerpoint/2010/main" val="1488939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BE383-74FB-C7F6-F9BE-AF96D95BC9F3}"/>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AA738E9C-7DE2-A333-7E3D-1AC507E8AAAB}"/>
              </a:ext>
            </a:extLst>
          </p:cNvPr>
          <p:cNvSpPr>
            <a:spLocks noGrp="1"/>
          </p:cNvSpPr>
          <p:nvPr>
            <p:ph idx="1"/>
          </p:nvPr>
        </p:nvSpPr>
        <p:spPr/>
        <p:txBody>
          <a:bodyPr>
            <a:normAutofit/>
          </a:bodyPr>
          <a:lstStyle/>
          <a:p>
            <a:pPr marL="0" indent="0" algn="just">
              <a:buNone/>
            </a:pPr>
            <a:r>
              <a:rPr lang="es-MX" sz="2400" dirty="0"/>
              <a:t>En conclusión, este banco de ejercicios permitió reforzar los conocimientos relacionados con el diseño y administración de bases de datos relacionales. La implementación de tablas relacionadas mediante claves primarias y foráneas facilitó la organización de la información y el desarrollo de consultas SQL para la generación de reportes. Además, se comprendió la importancia de mantener la integridad de los datos dentro de un sistema de información.</a:t>
            </a:r>
          </a:p>
        </p:txBody>
      </p:sp>
    </p:spTree>
    <p:extLst>
      <p:ext uri="{BB962C8B-B14F-4D97-AF65-F5344CB8AC3E}">
        <p14:creationId xmlns:p14="http://schemas.microsoft.com/office/powerpoint/2010/main" val="120426086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612</Words>
  <Application>Microsoft Office PowerPoint</Application>
  <PresentationFormat>Panorámica</PresentationFormat>
  <Paragraphs>42</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Aptos Display</vt:lpstr>
      <vt:lpstr>Arial</vt:lpstr>
      <vt:lpstr>Century Gothic</vt:lpstr>
      <vt:lpstr>Tema de Office</vt:lpstr>
      <vt:lpstr>Presentación de PowerPoint</vt:lpstr>
      <vt:lpstr>Introducción </vt:lpstr>
      <vt:lpstr>Justificación </vt:lpstr>
      <vt:lpstr>Tabla clientes</vt:lpstr>
      <vt:lpstr>Tabla empleados</vt:lpstr>
      <vt:lpstr>Tabla motos</vt:lpstr>
      <vt:lpstr>Tabla ventas</vt:lpstr>
      <vt:lpstr>RELACION ENTRE TABLAS</vt:lpstr>
      <vt:lpstr>Consulta de ventas por empleados</vt:lpstr>
      <vt:lpstr>Consulta de moto mas vendida</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3</cp:revision>
  <dcterms:created xsi:type="dcterms:W3CDTF">2026-06-06T23:27:55Z</dcterms:created>
  <dcterms:modified xsi:type="dcterms:W3CDTF">2026-06-07T00:47:12Z</dcterms:modified>
</cp:coreProperties>
</file>
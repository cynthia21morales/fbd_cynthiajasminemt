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57" r:id="rId5"/>
    <p:sldId id="258" r:id="rId6"/>
    <p:sldId id="259" r:id="rId7"/>
    <p:sldId id="260" r:id="rId8"/>
    <p:sldId id="261" r:id="rId9"/>
    <p:sldId id="262" r:id="rId10"/>
    <p:sldId id="263" r:id="rId11"/>
    <p:sldId id="264" r:id="rId12"/>
    <p:sldId id="265" r:id="rId13"/>
    <p:sldId id="268"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D37862-9CC0-3E1A-0287-2B8DB14D82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7739D94-DD33-582E-4F1E-F01CE16B85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0CE4FFD3-EC2B-D655-3BE9-265986D6B0D0}"/>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4F83FC15-13D5-7CC2-7E3B-6761DA4DF6F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FC9A34-7FB5-9C2C-865D-66CF986E2D65}"/>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239900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CCC2C-9843-38BB-2FAC-04727D1F55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1ECEF93-62F0-CFEB-37C6-6A73763B884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5ABF312-3DC3-2A5F-DA10-B2CFD0E1B73C}"/>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98E95063-4F33-DE7E-DD70-C23E8B47325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147193B-9DA6-A78A-DFB9-56BEA449DF51}"/>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3597662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F07D6-04E6-D549-1BC6-474BA6E0755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443FDDE-6FC8-AC03-72C7-CBE07D0024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0EDFB98-1962-4239-B96F-FE41619EC297}"/>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2B148338-8B0E-AE8D-78F9-1F606A8447E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8627BE4-82B9-A5BC-7F10-B8AA4E04E62D}"/>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402309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A5158-EE82-B82E-D4E5-9C3F158A8D9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C81ACD-6108-BB85-E4C3-82D5FBC3161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674A6D6-285E-5EBE-292C-EA9051271AD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28B250A-3EB8-41E7-2C11-8B33CBCC4BA3}"/>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6" name="Marcador de pie de página 5">
            <a:extLst>
              <a:ext uri="{FF2B5EF4-FFF2-40B4-BE49-F238E27FC236}">
                <a16:creationId xmlns:a16="http://schemas.microsoft.com/office/drawing/2014/main" id="{EB75B056-3DB8-B979-B2DD-B7346237073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8E5211B-4697-03DA-A2DF-CEEB2E4C3D41}"/>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4042931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0497C-04E1-7D43-B4CA-88D51DE130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0CE27E8-FCB6-221F-CA23-E25A10AD64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E9F7AB4-72BB-87AD-C4D9-99978B53217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EABA2E3-C921-88F7-93B4-E8899A638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C72BA5C-6E23-7F99-E31C-7E7C67D672C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FDADDAA-31B2-6DB6-26A1-054671D26454}"/>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8" name="Marcador de pie de página 7">
            <a:extLst>
              <a:ext uri="{FF2B5EF4-FFF2-40B4-BE49-F238E27FC236}">
                <a16:creationId xmlns:a16="http://schemas.microsoft.com/office/drawing/2014/main" id="{09973502-C5AB-5EBE-7E85-9CB72115EC7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6109456-DC50-85F1-46C5-148D6041AF13}"/>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466054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47D00-1404-B00B-7CEB-7B37B908E6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E10BB5C-D7A9-AA4B-FCA5-47DBFC3AADA4}"/>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4" name="Marcador de pie de página 3">
            <a:extLst>
              <a:ext uri="{FF2B5EF4-FFF2-40B4-BE49-F238E27FC236}">
                <a16:creationId xmlns:a16="http://schemas.microsoft.com/office/drawing/2014/main" id="{AF8F90EF-EF9D-66DA-B5EF-33AF40F53E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8215099-9661-F371-9978-AA441B1CD77C}"/>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1568691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ACA9108-065F-984C-8006-7833CB232BC6}"/>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3" name="Marcador de pie de página 2">
            <a:extLst>
              <a:ext uri="{FF2B5EF4-FFF2-40B4-BE49-F238E27FC236}">
                <a16:creationId xmlns:a16="http://schemas.microsoft.com/office/drawing/2014/main" id="{5E424A15-4552-CFCD-7590-1F4EB87E331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FAAF01C-FF99-F8D5-4061-9792E97C3BFA}"/>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3117611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37C2E-260E-EEFE-3F50-85C3A5B96E4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40F792D-C5A0-C3EB-E12A-5034C0D52E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B6A06DF-5D36-8432-35F9-CF00830D4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C89CFBE-E532-17C5-6788-F36080E79D94}"/>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6" name="Marcador de pie de página 5">
            <a:extLst>
              <a:ext uri="{FF2B5EF4-FFF2-40B4-BE49-F238E27FC236}">
                <a16:creationId xmlns:a16="http://schemas.microsoft.com/office/drawing/2014/main" id="{CFD499B1-A6EE-4398-36D5-AA37CB5173B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F7B9E22-7891-A777-D99B-15A8D519110A}"/>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1471946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4BEBA6-F148-0799-7192-CD7550553B7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773EEAB-A783-CC57-B033-01BDDC8DBC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DE85FE9-91FB-F92F-39EC-1F8C69DB9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9EF8D2-31FC-FD03-4CE7-57C89FB29AD1}"/>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6" name="Marcador de pie de página 5">
            <a:extLst>
              <a:ext uri="{FF2B5EF4-FFF2-40B4-BE49-F238E27FC236}">
                <a16:creationId xmlns:a16="http://schemas.microsoft.com/office/drawing/2014/main" id="{D4311AA1-0821-C37A-C921-A6F0FA5DF87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8E35C13-FE24-8875-7FFC-C28E6577D26D}"/>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107250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E8D7A5-6012-7131-E3B9-62925323043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68E98B8-809B-B465-3731-95E22EDDC17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F05AA4D-267D-4224-9CB1-0F857D7CE519}"/>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DC8C1BFE-C29E-BF56-9F47-B7A3C25B76B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EE121BD-9FDD-241C-2796-38C1D8C22E02}"/>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99794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149FCA1-EAF2-DBC7-D845-8690C8F6C20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7C91E9A-D90C-D058-435F-908AFDF36A0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332706B-3BBA-0574-B79F-99D9BAFD7617}"/>
              </a:ext>
            </a:extLst>
          </p:cNvPr>
          <p:cNvSpPr>
            <a:spLocks noGrp="1"/>
          </p:cNvSpPr>
          <p:nvPr>
            <p:ph type="dt" sz="half" idx="10"/>
          </p:nvPr>
        </p:nvSpPr>
        <p:spPr/>
        <p:txBody>
          <a:body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4F77C047-F2B1-5754-3D84-2A2849B816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1883E02-4398-4E8A-C705-FC68E21D96F7}"/>
              </a:ext>
            </a:extLst>
          </p:cNvPr>
          <p:cNvSpPr>
            <a:spLocks noGrp="1"/>
          </p:cNvSpPr>
          <p:nvPr>
            <p:ph type="sldNum" sz="quarter" idx="12"/>
          </p:nvPr>
        </p:nvSpPr>
        <p:spPr/>
        <p:txBody>
          <a:bodyPr/>
          <a:lstStyle/>
          <a:p>
            <a:fld id="{4B56D9D3-18C7-46A1-9917-1D6246AABFEC}" type="slidenum">
              <a:rPr lang="es-MX" smtClean="0"/>
              <a:t>‹Nº›</a:t>
            </a:fld>
            <a:endParaRPr lang="es-MX"/>
          </a:p>
        </p:txBody>
      </p:sp>
    </p:spTree>
    <p:extLst>
      <p:ext uri="{BB962C8B-B14F-4D97-AF65-F5344CB8AC3E}">
        <p14:creationId xmlns:p14="http://schemas.microsoft.com/office/powerpoint/2010/main" val="3363568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5DC561D-89ED-B9B7-F04E-7B7E16B2B1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2E68D68-D406-3550-DF55-F7F1A14C3F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6775A10-5D53-6792-9B95-9682606475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181D8E-7697-4C5F-B2BE-FC38139630F2}" type="datetimeFigureOut">
              <a:rPr lang="es-MX" smtClean="0"/>
              <a:t>15/06/2026</a:t>
            </a:fld>
            <a:endParaRPr lang="es-MX"/>
          </a:p>
        </p:txBody>
      </p:sp>
      <p:sp>
        <p:nvSpPr>
          <p:cNvPr id="5" name="Marcador de pie de página 4">
            <a:extLst>
              <a:ext uri="{FF2B5EF4-FFF2-40B4-BE49-F238E27FC236}">
                <a16:creationId xmlns:a16="http://schemas.microsoft.com/office/drawing/2014/main" id="{0477EA07-4F6E-140F-89F8-AEB4627CBF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E87B25B-6008-E656-8F9A-FCF409509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56D9D3-18C7-46A1-9917-1D6246AABFEC}" type="slidenum">
              <a:rPr lang="es-MX" smtClean="0"/>
              <a:t>‹Nº›</a:t>
            </a:fld>
            <a:endParaRPr lang="es-MX"/>
          </a:p>
        </p:txBody>
      </p:sp>
    </p:spTree>
    <p:extLst>
      <p:ext uri="{BB962C8B-B14F-4D97-AF65-F5344CB8AC3E}">
        <p14:creationId xmlns:p14="http://schemas.microsoft.com/office/powerpoint/2010/main" val="351945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D530563B-AE2C-75DC-7105-88545843EC2D}"/>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6.2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13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92161ACA-A5FB-9BD0-C0A6-4F4DA8CD0D86}"/>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C2384CB6-4E02-2DEB-745D-DE747C6907EB}"/>
              </a:ext>
            </a:extLst>
          </p:cNvPr>
          <p:cNvGrpSpPr/>
          <p:nvPr/>
        </p:nvGrpSpPr>
        <p:grpSpPr>
          <a:xfrm>
            <a:off x="817249" y="31119"/>
            <a:ext cx="2709599" cy="1198176"/>
            <a:chOff x="0" y="0"/>
            <a:chExt cx="3073400" cy="1308100"/>
          </a:xfrm>
        </p:grpSpPr>
        <p:sp>
          <p:nvSpPr>
            <p:cNvPr id="7" name="Freeform 3">
              <a:extLst>
                <a:ext uri="{FF2B5EF4-FFF2-40B4-BE49-F238E27FC236}">
                  <a16:creationId xmlns:a16="http://schemas.microsoft.com/office/drawing/2014/main" id="{4FA5D027-88F9-1F9F-15F4-8B095970660A}"/>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F0726134-EC59-BB9E-C95E-1E03A1FD2739}"/>
              </a:ext>
            </a:extLst>
          </p:cNvPr>
          <p:cNvGrpSpPr/>
          <p:nvPr/>
        </p:nvGrpSpPr>
        <p:grpSpPr>
          <a:xfrm>
            <a:off x="9481236" y="106714"/>
            <a:ext cx="1872270" cy="1245240"/>
            <a:chOff x="0" y="0"/>
            <a:chExt cx="1981200" cy="1625600"/>
          </a:xfrm>
        </p:grpSpPr>
        <p:sp>
          <p:nvSpPr>
            <p:cNvPr id="9" name="Freeform 5">
              <a:extLst>
                <a:ext uri="{FF2B5EF4-FFF2-40B4-BE49-F238E27FC236}">
                  <a16:creationId xmlns:a16="http://schemas.microsoft.com/office/drawing/2014/main" id="{943612BD-E812-618A-C698-D983834C51A5}"/>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F77C492A-19D5-9B70-337C-9CC58F8EA816}"/>
              </a:ext>
            </a:extLst>
          </p:cNvPr>
          <p:cNvGrpSpPr/>
          <p:nvPr/>
        </p:nvGrpSpPr>
        <p:grpSpPr>
          <a:xfrm>
            <a:off x="4307929" y="269788"/>
            <a:ext cx="3812814" cy="709234"/>
            <a:chOff x="0" y="0"/>
            <a:chExt cx="4343400" cy="901700"/>
          </a:xfrm>
        </p:grpSpPr>
        <p:sp>
          <p:nvSpPr>
            <p:cNvPr id="11" name="Freeform 7">
              <a:extLst>
                <a:ext uri="{FF2B5EF4-FFF2-40B4-BE49-F238E27FC236}">
                  <a16:creationId xmlns:a16="http://schemas.microsoft.com/office/drawing/2014/main" id="{E12F070E-0F35-C7D4-D4B8-B499022BF9B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2658828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230502-1237-D456-41F9-CE933F1539AB}"/>
              </a:ext>
            </a:extLst>
          </p:cNvPr>
          <p:cNvSpPr>
            <a:spLocks noGrp="1"/>
          </p:cNvSpPr>
          <p:nvPr>
            <p:ph type="title"/>
          </p:nvPr>
        </p:nvSpPr>
        <p:spPr/>
        <p:txBody>
          <a:bodyPr/>
          <a:lstStyle/>
          <a:p>
            <a:r>
              <a:rPr lang="es-MX" dirty="0" err="1"/>
              <a:t>Introduccion</a:t>
            </a:r>
            <a:r>
              <a:rPr lang="es-MX" dirty="0"/>
              <a:t> </a:t>
            </a:r>
          </a:p>
        </p:txBody>
      </p:sp>
      <p:sp>
        <p:nvSpPr>
          <p:cNvPr id="3" name="Marcador de contenido 2">
            <a:extLst>
              <a:ext uri="{FF2B5EF4-FFF2-40B4-BE49-F238E27FC236}">
                <a16:creationId xmlns:a16="http://schemas.microsoft.com/office/drawing/2014/main" id="{5CE30A10-771E-C2AA-36EA-0A60008737CD}"/>
              </a:ext>
            </a:extLst>
          </p:cNvPr>
          <p:cNvSpPr>
            <a:spLocks noGrp="1"/>
          </p:cNvSpPr>
          <p:nvPr>
            <p:ph idx="1"/>
          </p:nvPr>
        </p:nvSpPr>
        <p:spPr/>
        <p:txBody>
          <a:bodyPr/>
          <a:lstStyle/>
          <a:p>
            <a:pPr marL="0" indent="0" algn="just">
              <a:buNone/>
            </a:pPr>
            <a:r>
              <a:rPr lang="es-MX" dirty="0"/>
              <a:t>En la presente práctica se desarrolló una base de datos denominada </a:t>
            </a:r>
            <a:r>
              <a:rPr lang="es-MX" dirty="0" err="1"/>
              <a:t>AutoPartes</a:t>
            </a:r>
            <a:r>
              <a:rPr lang="es-MX" dirty="0"/>
              <a:t> Morales utilizando PostgreSQL y </a:t>
            </a:r>
            <a:r>
              <a:rPr lang="es-MX" dirty="0" err="1"/>
              <a:t>pgAdmin</a:t>
            </a:r>
            <a:r>
              <a:rPr lang="es-MX" dirty="0"/>
              <a:t>. El objetivo fue diseñar una estructura organizada para administrar información relacionada con clientes, proveedores, empleados, productos y ventas. A través de la creación de tablas y relaciones se fortalecieron los conocimientos sobre el manejo de bases de datos relacionales.</a:t>
            </a:r>
          </a:p>
        </p:txBody>
      </p:sp>
    </p:spTree>
    <p:extLst>
      <p:ext uri="{BB962C8B-B14F-4D97-AF65-F5344CB8AC3E}">
        <p14:creationId xmlns:p14="http://schemas.microsoft.com/office/powerpoint/2010/main" val="3333152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767CA-F59C-3BF3-4218-62FCDC9E1B2C}"/>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74D469C3-31CF-1218-C684-15848EBF7E2F}"/>
              </a:ext>
            </a:extLst>
          </p:cNvPr>
          <p:cNvSpPr>
            <a:spLocks noGrp="1"/>
          </p:cNvSpPr>
          <p:nvPr>
            <p:ph idx="1"/>
          </p:nvPr>
        </p:nvSpPr>
        <p:spPr/>
        <p:txBody>
          <a:bodyPr/>
          <a:lstStyle/>
          <a:p>
            <a:pPr marL="0" indent="0">
              <a:buNone/>
            </a:pPr>
            <a:r>
              <a:rPr lang="es-MX" dirty="0"/>
              <a:t>La realización de esta práctica permitió aplicar los conocimientos adquiridos sobre el diseño y administración de bases de datos. Mediante la creación de tablas relacionadas fue posible organizar la información de una refaccionaria de manera eficiente, facilitando el almacenamiento, consulta y control de los datos registrados dentro del sistema.</a:t>
            </a:r>
          </a:p>
        </p:txBody>
      </p:sp>
    </p:spTree>
    <p:extLst>
      <p:ext uri="{BB962C8B-B14F-4D97-AF65-F5344CB8AC3E}">
        <p14:creationId xmlns:p14="http://schemas.microsoft.com/office/powerpoint/2010/main" val="601268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83F61-679F-C041-964D-8A14508EC5B2}"/>
              </a:ext>
            </a:extLst>
          </p:cNvPr>
          <p:cNvSpPr>
            <a:spLocks noGrp="1"/>
          </p:cNvSpPr>
          <p:nvPr>
            <p:ph type="title"/>
          </p:nvPr>
        </p:nvSpPr>
        <p:spPr/>
        <p:txBody>
          <a:bodyPr/>
          <a:lstStyle/>
          <a:p>
            <a:r>
              <a:rPr lang="es-MX" dirty="0" err="1"/>
              <a:t>Creacion</a:t>
            </a:r>
            <a:r>
              <a:rPr lang="es-MX" dirty="0"/>
              <a:t> de base de datos </a:t>
            </a:r>
          </a:p>
        </p:txBody>
      </p:sp>
      <p:pic>
        <p:nvPicPr>
          <p:cNvPr id="5" name="Marcador de contenido 4">
            <a:extLst>
              <a:ext uri="{FF2B5EF4-FFF2-40B4-BE49-F238E27FC236}">
                <a16:creationId xmlns:a16="http://schemas.microsoft.com/office/drawing/2014/main" id="{4FF31C51-687A-D13F-6CFE-BB8B2E07FAF6}"/>
              </a:ext>
            </a:extLst>
          </p:cNvPr>
          <p:cNvPicPr>
            <a:picLocks noGrp="1" noChangeAspect="1"/>
          </p:cNvPicPr>
          <p:nvPr>
            <p:ph idx="1"/>
          </p:nvPr>
        </p:nvPicPr>
        <p:blipFill>
          <a:blip r:embed="rId2"/>
          <a:stretch>
            <a:fillRect/>
          </a:stretch>
        </p:blipFill>
        <p:spPr>
          <a:xfrm>
            <a:off x="971437" y="1690688"/>
            <a:ext cx="5590040" cy="4351338"/>
          </a:xfrm>
        </p:spPr>
      </p:pic>
      <p:sp>
        <p:nvSpPr>
          <p:cNvPr id="7" name="CuadroTexto 6">
            <a:extLst>
              <a:ext uri="{FF2B5EF4-FFF2-40B4-BE49-F238E27FC236}">
                <a16:creationId xmlns:a16="http://schemas.microsoft.com/office/drawing/2014/main" id="{C678BEE3-CD21-CC18-11F9-82E10540CFFB}"/>
              </a:ext>
            </a:extLst>
          </p:cNvPr>
          <p:cNvSpPr txBox="1"/>
          <p:nvPr/>
        </p:nvSpPr>
        <p:spPr>
          <a:xfrm>
            <a:off x="6694714" y="2516165"/>
            <a:ext cx="4996543" cy="1754326"/>
          </a:xfrm>
          <a:prstGeom prst="rect">
            <a:avLst/>
          </a:prstGeom>
          <a:noFill/>
        </p:spPr>
        <p:txBody>
          <a:bodyPr wrap="square">
            <a:spAutoFit/>
          </a:bodyPr>
          <a:lstStyle/>
          <a:p>
            <a:r>
              <a:rPr lang="es-MX" dirty="0"/>
              <a:t>Como primer paso se creó la base de datos denominada </a:t>
            </a:r>
            <a:r>
              <a:rPr lang="es-MX" dirty="0" err="1"/>
              <a:t>AutoPartesMorales</a:t>
            </a:r>
            <a:r>
              <a:rPr lang="es-MX" dirty="0"/>
              <a:t>, la cual servirá como contenedor principal para almacenar toda la información relacionada con la empresa, incluyendo clientes, proveedores, productos, empleados y ventas.</a:t>
            </a:r>
          </a:p>
        </p:txBody>
      </p:sp>
    </p:spTree>
    <p:extLst>
      <p:ext uri="{BB962C8B-B14F-4D97-AF65-F5344CB8AC3E}">
        <p14:creationId xmlns:p14="http://schemas.microsoft.com/office/powerpoint/2010/main" val="16567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5B7EC1-C4F1-EE05-CC55-8BF77AA92426}"/>
              </a:ext>
            </a:extLst>
          </p:cNvPr>
          <p:cNvSpPr>
            <a:spLocks noGrp="1"/>
          </p:cNvSpPr>
          <p:nvPr>
            <p:ph type="title"/>
          </p:nvPr>
        </p:nvSpPr>
        <p:spPr/>
        <p:txBody>
          <a:bodyPr/>
          <a:lstStyle/>
          <a:p>
            <a:r>
              <a:rPr lang="es-MX" dirty="0" err="1"/>
              <a:t>Creacion</a:t>
            </a:r>
            <a:r>
              <a:rPr lang="es-MX" dirty="0"/>
              <a:t> de tablas </a:t>
            </a:r>
          </a:p>
        </p:txBody>
      </p:sp>
      <p:pic>
        <p:nvPicPr>
          <p:cNvPr id="5" name="Marcador de contenido 4">
            <a:extLst>
              <a:ext uri="{FF2B5EF4-FFF2-40B4-BE49-F238E27FC236}">
                <a16:creationId xmlns:a16="http://schemas.microsoft.com/office/drawing/2014/main" id="{788598E0-593C-8575-954E-87D5ABC4041D}"/>
              </a:ext>
            </a:extLst>
          </p:cNvPr>
          <p:cNvPicPr>
            <a:picLocks noGrp="1" noChangeAspect="1"/>
          </p:cNvPicPr>
          <p:nvPr>
            <p:ph idx="1"/>
          </p:nvPr>
        </p:nvPicPr>
        <p:blipFill>
          <a:blip r:embed="rId2"/>
          <a:stretch>
            <a:fillRect/>
          </a:stretch>
        </p:blipFill>
        <p:spPr>
          <a:xfrm>
            <a:off x="158837" y="1570566"/>
            <a:ext cx="4807197" cy="2057506"/>
          </a:xfrm>
        </p:spPr>
      </p:pic>
      <p:pic>
        <p:nvPicPr>
          <p:cNvPr id="7" name="Imagen 6">
            <a:extLst>
              <a:ext uri="{FF2B5EF4-FFF2-40B4-BE49-F238E27FC236}">
                <a16:creationId xmlns:a16="http://schemas.microsoft.com/office/drawing/2014/main" id="{D6586359-EAF3-6842-D5A7-B66FF5716B67}"/>
              </a:ext>
            </a:extLst>
          </p:cNvPr>
          <p:cNvPicPr>
            <a:picLocks noChangeAspect="1"/>
          </p:cNvPicPr>
          <p:nvPr/>
        </p:nvPicPr>
        <p:blipFill>
          <a:blip r:embed="rId3"/>
          <a:stretch>
            <a:fillRect/>
          </a:stretch>
        </p:blipFill>
        <p:spPr>
          <a:xfrm>
            <a:off x="274287" y="3697016"/>
            <a:ext cx="3340272" cy="1759040"/>
          </a:xfrm>
          <a:prstGeom prst="rect">
            <a:avLst/>
          </a:prstGeom>
        </p:spPr>
      </p:pic>
      <p:pic>
        <p:nvPicPr>
          <p:cNvPr id="8" name="Marcador de contenido 4">
            <a:extLst>
              <a:ext uri="{FF2B5EF4-FFF2-40B4-BE49-F238E27FC236}">
                <a16:creationId xmlns:a16="http://schemas.microsoft.com/office/drawing/2014/main" id="{4A28F498-EBB5-DFAA-6CA0-EC9C89E222CF}"/>
              </a:ext>
            </a:extLst>
          </p:cNvPr>
          <p:cNvPicPr>
            <a:picLocks noChangeAspect="1"/>
          </p:cNvPicPr>
          <p:nvPr/>
        </p:nvPicPr>
        <p:blipFill>
          <a:blip r:embed="rId4"/>
          <a:stretch>
            <a:fillRect/>
          </a:stretch>
        </p:blipFill>
        <p:spPr>
          <a:xfrm>
            <a:off x="3764552" y="3628072"/>
            <a:ext cx="3530781" cy="1447874"/>
          </a:xfrm>
          <a:prstGeom prst="rect">
            <a:avLst/>
          </a:prstGeom>
        </p:spPr>
      </p:pic>
      <p:pic>
        <p:nvPicPr>
          <p:cNvPr id="10" name="Imagen 9">
            <a:extLst>
              <a:ext uri="{FF2B5EF4-FFF2-40B4-BE49-F238E27FC236}">
                <a16:creationId xmlns:a16="http://schemas.microsoft.com/office/drawing/2014/main" id="{031ED352-B029-A5B2-9D40-FDE0066A46D4}"/>
              </a:ext>
            </a:extLst>
          </p:cNvPr>
          <p:cNvPicPr>
            <a:picLocks noChangeAspect="1"/>
          </p:cNvPicPr>
          <p:nvPr/>
        </p:nvPicPr>
        <p:blipFill>
          <a:blip r:embed="rId5"/>
          <a:stretch>
            <a:fillRect/>
          </a:stretch>
        </p:blipFill>
        <p:spPr>
          <a:xfrm>
            <a:off x="5282026" y="1552076"/>
            <a:ext cx="3587934" cy="1943200"/>
          </a:xfrm>
          <a:prstGeom prst="rect">
            <a:avLst/>
          </a:prstGeom>
        </p:spPr>
      </p:pic>
      <p:pic>
        <p:nvPicPr>
          <p:cNvPr id="12" name="Imagen 11">
            <a:extLst>
              <a:ext uri="{FF2B5EF4-FFF2-40B4-BE49-F238E27FC236}">
                <a16:creationId xmlns:a16="http://schemas.microsoft.com/office/drawing/2014/main" id="{90DDFC56-7325-7A84-C9C7-7F876B64E5A1}"/>
              </a:ext>
            </a:extLst>
          </p:cNvPr>
          <p:cNvPicPr>
            <a:picLocks noChangeAspect="1"/>
          </p:cNvPicPr>
          <p:nvPr/>
        </p:nvPicPr>
        <p:blipFill>
          <a:blip r:embed="rId6"/>
          <a:stretch>
            <a:fillRect/>
          </a:stretch>
        </p:blipFill>
        <p:spPr>
          <a:xfrm>
            <a:off x="8869960" y="1609880"/>
            <a:ext cx="3225966" cy="1771741"/>
          </a:xfrm>
          <a:prstGeom prst="rect">
            <a:avLst/>
          </a:prstGeom>
        </p:spPr>
      </p:pic>
      <p:sp>
        <p:nvSpPr>
          <p:cNvPr id="14" name="CuadroTexto 13">
            <a:extLst>
              <a:ext uri="{FF2B5EF4-FFF2-40B4-BE49-F238E27FC236}">
                <a16:creationId xmlns:a16="http://schemas.microsoft.com/office/drawing/2014/main" id="{02C80FE1-ADB5-0A12-D523-B96A852AF579}"/>
              </a:ext>
            </a:extLst>
          </p:cNvPr>
          <p:cNvSpPr txBox="1"/>
          <p:nvPr/>
        </p:nvSpPr>
        <p:spPr>
          <a:xfrm>
            <a:off x="3429000" y="5208742"/>
            <a:ext cx="6096000" cy="1477328"/>
          </a:xfrm>
          <a:prstGeom prst="rect">
            <a:avLst/>
          </a:prstGeom>
          <a:noFill/>
        </p:spPr>
        <p:txBody>
          <a:bodyPr wrap="square">
            <a:spAutoFit/>
          </a:bodyPr>
          <a:lstStyle/>
          <a:p>
            <a:r>
              <a:rPr lang="es-MX" dirty="0"/>
              <a:t>Posteriormente se diseñaron las tablas necesarias para el funcionamiento de la base de datos. Cada tabla fue creada con campos específicos para almacenar información relacionada con los distintos procesos de la refaccionaria, permitiendo una mejor organización de los datos.</a:t>
            </a:r>
          </a:p>
        </p:txBody>
      </p:sp>
    </p:spTree>
    <p:extLst>
      <p:ext uri="{BB962C8B-B14F-4D97-AF65-F5344CB8AC3E}">
        <p14:creationId xmlns:p14="http://schemas.microsoft.com/office/powerpoint/2010/main" val="87215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E80744-14E9-0FC5-740C-303E19C364EC}"/>
              </a:ext>
            </a:extLst>
          </p:cNvPr>
          <p:cNvSpPr>
            <a:spLocks noGrp="1"/>
          </p:cNvSpPr>
          <p:nvPr>
            <p:ph type="title"/>
          </p:nvPr>
        </p:nvSpPr>
        <p:spPr/>
        <p:txBody>
          <a:bodyPr/>
          <a:lstStyle/>
          <a:p>
            <a:r>
              <a:rPr lang="es-MX" dirty="0"/>
              <a:t>Relaciones </a:t>
            </a:r>
          </a:p>
        </p:txBody>
      </p:sp>
      <p:pic>
        <p:nvPicPr>
          <p:cNvPr id="9" name="Marcador de contenido 8">
            <a:extLst>
              <a:ext uri="{FF2B5EF4-FFF2-40B4-BE49-F238E27FC236}">
                <a16:creationId xmlns:a16="http://schemas.microsoft.com/office/drawing/2014/main" id="{841FF031-B0DA-C2B5-D955-76D838BD1FC3}"/>
              </a:ext>
            </a:extLst>
          </p:cNvPr>
          <p:cNvPicPr>
            <a:picLocks noGrp="1" noChangeAspect="1"/>
          </p:cNvPicPr>
          <p:nvPr>
            <p:ph idx="1"/>
          </p:nvPr>
        </p:nvPicPr>
        <p:blipFill>
          <a:blip r:embed="rId2"/>
          <a:stretch>
            <a:fillRect/>
          </a:stretch>
        </p:blipFill>
        <p:spPr>
          <a:xfrm>
            <a:off x="712907" y="1876733"/>
            <a:ext cx="4191215" cy="1244664"/>
          </a:xfrm>
        </p:spPr>
      </p:pic>
      <p:pic>
        <p:nvPicPr>
          <p:cNvPr id="11" name="Imagen 10">
            <a:extLst>
              <a:ext uri="{FF2B5EF4-FFF2-40B4-BE49-F238E27FC236}">
                <a16:creationId xmlns:a16="http://schemas.microsoft.com/office/drawing/2014/main" id="{27F50624-857B-5CDE-555E-A16018CFE99E}"/>
              </a:ext>
            </a:extLst>
          </p:cNvPr>
          <p:cNvPicPr>
            <a:picLocks noChangeAspect="1"/>
          </p:cNvPicPr>
          <p:nvPr/>
        </p:nvPicPr>
        <p:blipFill>
          <a:blip r:embed="rId3"/>
          <a:stretch>
            <a:fillRect/>
          </a:stretch>
        </p:blipFill>
        <p:spPr>
          <a:xfrm>
            <a:off x="712907" y="3121397"/>
            <a:ext cx="3759393" cy="1111307"/>
          </a:xfrm>
          <a:prstGeom prst="rect">
            <a:avLst/>
          </a:prstGeom>
        </p:spPr>
      </p:pic>
      <p:pic>
        <p:nvPicPr>
          <p:cNvPr id="13" name="Imagen 12">
            <a:extLst>
              <a:ext uri="{FF2B5EF4-FFF2-40B4-BE49-F238E27FC236}">
                <a16:creationId xmlns:a16="http://schemas.microsoft.com/office/drawing/2014/main" id="{FC86F799-3A3B-09FA-38C8-3D022EFA0868}"/>
              </a:ext>
            </a:extLst>
          </p:cNvPr>
          <p:cNvPicPr>
            <a:picLocks noChangeAspect="1"/>
          </p:cNvPicPr>
          <p:nvPr/>
        </p:nvPicPr>
        <p:blipFill>
          <a:blip r:embed="rId4"/>
          <a:stretch>
            <a:fillRect/>
          </a:stretch>
        </p:blipFill>
        <p:spPr>
          <a:xfrm>
            <a:off x="712907" y="4232704"/>
            <a:ext cx="4026107" cy="1054154"/>
          </a:xfrm>
          <a:prstGeom prst="rect">
            <a:avLst/>
          </a:prstGeom>
        </p:spPr>
      </p:pic>
      <p:pic>
        <p:nvPicPr>
          <p:cNvPr id="15" name="Imagen 14">
            <a:extLst>
              <a:ext uri="{FF2B5EF4-FFF2-40B4-BE49-F238E27FC236}">
                <a16:creationId xmlns:a16="http://schemas.microsoft.com/office/drawing/2014/main" id="{60469ED9-A4CA-A382-5759-E3FF443B8BB3}"/>
              </a:ext>
            </a:extLst>
          </p:cNvPr>
          <p:cNvPicPr>
            <a:picLocks noChangeAspect="1"/>
          </p:cNvPicPr>
          <p:nvPr/>
        </p:nvPicPr>
        <p:blipFill>
          <a:blip r:embed="rId5"/>
          <a:stretch>
            <a:fillRect/>
          </a:stretch>
        </p:blipFill>
        <p:spPr>
          <a:xfrm>
            <a:off x="712907" y="5286858"/>
            <a:ext cx="3619686" cy="1073205"/>
          </a:xfrm>
          <a:prstGeom prst="rect">
            <a:avLst/>
          </a:prstGeom>
        </p:spPr>
      </p:pic>
      <p:sp>
        <p:nvSpPr>
          <p:cNvPr id="17" name="CuadroTexto 16">
            <a:extLst>
              <a:ext uri="{FF2B5EF4-FFF2-40B4-BE49-F238E27FC236}">
                <a16:creationId xmlns:a16="http://schemas.microsoft.com/office/drawing/2014/main" id="{58C1A28E-2F5B-B187-085F-3A25DDACD36B}"/>
              </a:ext>
            </a:extLst>
          </p:cNvPr>
          <p:cNvSpPr txBox="1"/>
          <p:nvPr/>
        </p:nvSpPr>
        <p:spPr>
          <a:xfrm>
            <a:off x="5257800" y="3108672"/>
            <a:ext cx="6096000" cy="1477328"/>
          </a:xfrm>
          <a:prstGeom prst="rect">
            <a:avLst/>
          </a:prstGeom>
          <a:noFill/>
        </p:spPr>
        <p:txBody>
          <a:bodyPr wrap="square">
            <a:spAutoFit/>
          </a:bodyPr>
          <a:lstStyle/>
          <a:p>
            <a:r>
              <a:rPr lang="es-MX" dirty="0"/>
              <a:t>Una vez creadas las tablas se establecieron relaciones mediante claves foráneas. Estas relaciones permiten conectar la información entre diferentes entidades y garantizan la integridad referencial dentro de la base de datos.</a:t>
            </a:r>
          </a:p>
        </p:txBody>
      </p:sp>
    </p:spTree>
    <p:extLst>
      <p:ext uri="{BB962C8B-B14F-4D97-AF65-F5344CB8AC3E}">
        <p14:creationId xmlns:p14="http://schemas.microsoft.com/office/powerpoint/2010/main" val="126602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ABE9DB-D028-96F8-0E4B-B680B83B53D9}"/>
              </a:ext>
            </a:extLst>
          </p:cNvPr>
          <p:cNvSpPr>
            <a:spLocks noGrp="1"/>
          </p:cNvSpPr>
          <p:nvPr>
            <p:ph type="title"/>
          </p:nvPr>
        </p:nvSpPr>
        <p:spPr/>
        <p:txBody>
          <a:bodyPr/>
          <a:lstStyle/>
          <a:p>
            <a:r>
              <a:rPr lang="es-MX" dirty="0"/>
              <a:t>proveedores</a:t>
            </a:r>
          </a:p>
        </p:txBody>
      </p:sp>
      <p:pic>
        <p:nvPicPr>
          <p:cNvPr id="5" name="Marcador de contenido 4">
            <a:extLst>
              <a:ext uri="{FF2B5EF4-FFF2-40B4-BE49-F238E27FC236}">
                <a16:creationId xmlns:a16="http://schemas.microsoft.com/office/drawing/2014/main" id="{FE4BDF9B-3602-BD25-7B8B-07342815DFC1}"/>
              </a:ext>
            </a:extLst>
          </p:cNvPr>
          <p:cNvPicPr>
            <a:picLocks noGrp="1" noChangeAspect="1"/>
          </p:cNvPicPr>
          <p:nvPr>
            <p:ph idx="1"/>
          </p:nvPr>
        </p:nvPicPr>
        <p:blipFill>
          <a:blip r:embed="rId2"/>
          <a:stretch>
            <a:fillRect/>
          </a:stretch>
        </p:blipFill>
        <p:spPr>
          <a:xfrm>
            <a:off x="871599" y="1849933"/>
            <a:ext cx="5943034" cy="2515238"/>
          </a:xfrm>
        </p:spPr>
      </p:pic>
      <p:pic>
        <p:nvPicPr>
          <p:cNvPr id="7" name="Imagen 6">
            <a:extLst>
              <a:ext uri="{FF2B5EF4-FFF2-40B4-BE49-F238E27FC236}">
                <a16:creationId xmlns:a16="http://schemas.microsoft.com/office/drawing/2014/main" id="{2FF9363A-F05C-09D9-D332-EC91A904B7EB}"/>
              </a:ext>
            </a:extLst>
          </p:cNvPr>
          <p:cNvPicPr>
            <a:picLocks noChangeAspect="1"/>
          </p:cNvPicPr>
          <p:nvPr/>
        </p:nvPicPr>
        <p:blipFill>
          <a:blip r:embed="rId3"/>
          <a:stretch>
            <a:fillRect/>
          </a:stretch>
        </p:blipFill>
        <p:spPr>
          <a:xfrm>
            <a:off x="6336533" y="1447698"/>
            <a:ext cx="5213210" cy="2831195"/>
          </a:xfrm>
          <a:prstGeom prst="rect">
            <a:avLst/>
          </a:prstGeom>
        </p:spPr>
      </p:pic>
      <p:sp>
        <p:nvSpPr>
          <p:cNvPr id="9" name="CuadroTexto 8">
            <a:extLst>
              <a:ext uri="{FF2B5EF4-FFF2-40B4-BE49-F238E27FC236}">
                <a16:creationId xmlns:a16="http://schemas.microsoft.com/office/drawing/2014/main" id="{CFCA4187-433E-013B-0F59-25E2D0068E09}"/>
              </a:ext>
            </a:extLst>
          </p:cNvPr>
          <p:cNvSpPr txBox="1"/>
          <p:nvPr/>
        </p:nvSpPr>
        <p:spPr>
          <a:xfrm>
            <a:off x="3086188" y="4438138"/>
            <a:ext cx="6096000" cy="1477328"/>
          </a:xfrm>
          <a:prstGeom prst="rect">
            <a:avLst/>
          </a:prstGeom>
          <a:noFill/>
        </p:spPr>
        <p:txBody>
          <a:bodyPr wrap="square">
            <a:spAutoFit/>
          </a:bodyPr>
          <a:lstStyle/>
          <a:p>
            <a:r>
              <a:rPr lang="es-MX" dirty="0"/>
              <a:t>La tabla Proveedores almacena la información de las empresas encargadas de suministrar las refacciones comercializadas por </a:t>
            </a:r>
            <a:r>
              <a:rPr lang="es-MX" dirty="0" err="1"/>
              <a:t>AutoPartes</a:t>
            </a:r>
            <a:r>
              <a:rPr lang="es-MX" dirty="0"/>
              <a:t> Morales. Se registraron datos como nombre de la empresa, teléfono, correo electrónico y dirección.</a:t>
            </a:r>
          </a:p>
        </p:txBody>
      </p:sp>
    </p:spTree>
    <p:extLst>
      <p:ext uri="{BB962C8B-B14F-4D97-AF65-F5344CB8AC3E}">
        <p14:creationId xmlns:p14="http://schemas.microsoft.com/office/powerpoint/2010/main" val="233417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1AEFA0-2289-2645-C1DE-740BB46414F3}"/>
              </a:ext>
            </a:extLst>
          </p:cNvPr>
          <p:cNvSpPr>
            <a:spLocks noGrp="1"/>
          </p:cNvSpPr>
          <p:nvPr>
            <p:ph type="title"/>
          </p:nvPr>
        </p:nvSpPr>
        <p:spPr/>
        <p:txBody>
          <a:bodyPr/>
          <a:lstStyle/>
          <a:p>
            <a:r>
              <a:rPr lang="es-MX" dirty="0"/>
              <a:t>Productos </a:t>
            </a:r>
          </a:p>
        </p:txBody>
      </p:sp>
      <p:pic>
        <p:nvPicPr>
          <p:cNvPr id="5" name="Marcador de contenido 4">
            <a:extLst>
              <a:ext uri="{FF2B5EF4-FFF2-40B4-BE49-F238E27FC236}">
                <a16:creationId xmlns:a16="http://schemas.microsoft.com/office/drawing/2014/main" id="{3A30B954-5807-2DEE-4A4D-5583F8E9AC94}"/>
              </a:ext>
            </a:extLst>
          </p:cNvPr>
          <p:cNvPicPr>
            <a:picLocks noGrp="1" noChangeAspect="1"/>
          </p:cNvPicPr>
          <p:nvPr>
            <p:ph idx="1"/>
          </p:nvPr>
        </p:nvPicPr>
        <p:blipFill>
          <a:blip r:embed="rId2"/>
          <a:stretch>
            <a:fillRect/>
          </a:stretch>
        </p:blipFill>
        <p:spPr>
          <a:xfrm>
            <a:off x="172463" y="1690688"/>
            <a:ext cx="3695817" cy="2271712"/>
          </a:xfrm>
        </p:spPr>
      </p:pic>
      <p:pic>
        <p:nvPicPr>
          <p:cNvPr id="7" name="Imagen 6">
            <a:extLst>
              <a:ext uri="{FF2B5EF4-FFF2-40B4-BE49-F238E27FC236}">
                <a16:creationId xmlns:a16="http://schemas.microsoft.com/office/drawing/2014/main" id="{80D203A1-DB99-B643-D1BB-235216ECF5E2}"/>
              </a:ext>
            </a:extLst>
          </p:cNvPr>
          <p:cNvPicPr>
            <a:picLocks noChangeAspect="1"/>
          </p:cNvPicPr>
          <p:nvPr/>
        </p:nvPicPr>
        <p:blipFill>
          <a:blip r:embed="rId3"/>
          <a:stretch>
            <a:fillRect/>
          </a:stretch>
        </p:blipFill>
        <p:spPr>
          <a:xfrm>
            <a:off x="4159025" y="1785256"/>
            <a:ext cx="5223128" cy="2414465"/>
          </a:xfrm>
          <a:prstGeom prst="rect">
            <a:avLst/>
          </a:prstGeom>
        </p:spPr>
      </p:pic>
      <p:sp>
        <p:nvSpPr>
          <p:cNvPr id="9" name="CuadroTexto 8">
            <a:extLst>
              <a:ext uri="{FF2B5EF4-FFF2-40B4-BE49-F238E27FC236}">
                <a16:creationId xmlns:a16="http://schemas.microsoft.com/office/drawing/2014/main" id="{7E6294F8-AB29-1910-E0E2-394E1CBC5C88}"/>
              </a:ext>
            </a:extLst>
          </p:cNvPr>
          <p:cNvSpPr txBox="1"/>
          <p:nvPr/>
        </p:nvSpPr>
        <p:spPr>
          <a:xfrm>
            <a:off x="2020371" y="4853579"/>
            <a:ext cx="6096000" cy="1200329"/>
          </a:xfrm>
          <a:prstGeom prst="rect">
            <a:avLst/>
          </a:prstGeom>
          <a:noFill/>
        </p:spPr>
        <p:txBody>
          <a:bodyPr wrap="square">
            <a:spAutoFit/>
          </a:bodyPr>
          <a:lstStyle/>
          <a:p>
            <a:r>
              <a:rPr lang="es-MX" dirty="0"/>
              <a:t>La tabla Productos contiene el inventario de refacciones disponibles para la venta. Se registraron datos como nombre del producto, categoría, marca, precio, stock y proveedor correspondiente.</a:t>
            </a:r>
          </a:p>
        </p:txBody>
      </p:sp>
    </p:spTree>
    <p:extLst>
      <p:ext uri="{BB962C8B-B14F-4D97-AF65-F5344CB8AC3E}">
        <p14:creationId xmlns:p14="http://schemas.microsoft.com/office/powerpoint/2010/main" val="449505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E5F13D-7D16-24E4-4D4D-53911C957FD3}"/>
              </a:ext>
            </a:extLst>
          </p:cNvPr>
          <p:cNvSpPr>
            <a:spLocks noGrp="1"/>
          </p:cNvSpPr>
          <p:nvPr>
            <p:ph type="title"/>
          </p:nvPr>
        </p:nvSpPr>
        <p:spPr/>
        <p:txBody>
          <a:bodyPr/>
          <a:lstStyle/>
          <a:p>
            <a:r>
              <a:rPr lang="es-MX" dirty="0"/>
              <a:t> clientes </a:t>
            </a:r>
          </a:p>
        </p:txBody>
      </p:sp>
      <p:pic>
        <p:nvPicPr>
          <p:cNvPr id="5" name="Marcador de contenido 4">
            <a:extLst>
              <a:ext uri="{FF2B5EF4-FFF2-40B4-BE49-F238E27FC236}">
                <a16:creationId xmlns:a16="http://schemas.microsoft.com/office/drawing/2014/main" id="{FF2B6190-5268-93F5-783C-B1AAA3712A11}"/>
              </a:ext>
            </a:extLst>
          </p:cNvPr>
          <p:cNvPicPr>
            <a:picLocks noGrp="1" noChangeAspect="1"/>
          </p:cNvPicPr>
          <p:nvPr>
            <p:ph idx="1"/>
          </p:nvPr>
        </p:nvPicPr>
        <p:blipFill>
          <a:blip r:embed="rId2"/>
          <a:stretch>
            <a:fillRect/>
          </a:stretch>
        </p:blipFill>
        <p:spPr>
          <a:xfrm>
            <a:off x="417620" y="1690688"/>
            <a:ext cx="4629388" cy="2216264"/>
          </a:xfrm>
        </p:spPr>
      </p:pic>
      <p:pic>
        <p:nvPicPr>
          <p:cNvPr id="7" name="Imagen 6">
            <a:extLst>
              <a:ext uri="{FF2B5EF4-FFF2-40B4-BE49-F238E27FC236}">
                <a16:creationId xmlns:a16="http://schemas.microsoft.com/office/drawing/2014/main" id="{95DC2D6A-606B-9FB7-9EE7-46F16D6DF120}"/>
              </a:ext>
            </a:extLst>
          </p:cNvPr>
          <p:cNvPicPr>
            <a:picLocks noChangeAspect="1"/>
          </p:cNvPicPr>
          <p:nvPr/>
        </p:nvPicPr>
        <p:blipFill>
          <a:blip r:embed="rId3"/>
          <a:stretch>
            <a:fillRect/>
          </a:stretch>
        </p:blipFill>
        <p:spPr>
          <a:xfrm>
            <a:off x="5084311" y="1690688"/>
            <a:ext cx="6269489" cy="3193890"/>
          </a:xfrm>
          <a:prstGeom prst="rect">
            <a:avLst/>
          </a:prstGeom>
        </p:spPr>
      </p:pic>
      <p:sp>
        <p:nvSpPr>
          <p:cNvPr id="9" name="CuadroTexto 8">
            <a:extLst>
              <a:ext uri="{FF2B5EF4-FFF2-40B4-BE49-F238E27FC236}">
                <a16:creationId xmlns:a16="http://schemas.microsoft.com/office/drawing/2014/main" id="{2E1B2DB6-96C4-595C-AF6D-2329899F5404}"/>
              </a:ext>
            </a:extLst>
          </p:cNvPr>
          <p:cNvSpPr txBox="1"/>
          <p:nvPr/>
        </p:nvSpPr>
        <p:spPr>
          <a:xfrm>
            <a:off x="1567543" y="5015547"/>
            <a:ext cx="6096000" cy="1477328"/>
          </a:xfrm>
          <a:prstGeom prst="rect">
            <a:avLst/>
          </a:prstGeom>
          <a:noFill/>
        </p:spPr>
        <p:txBody>
          <a:bodyPr wrap="square">
            <a:spAutoFit/>
          </a:bodyPr>
          <a:lstStyle/>
          <a:p>
            <a:r>
              <a:rPr lang="es-MX" dirty="0"/>
              <a:t>La tabla Clientes fue creada para almacenar la información de las personas que realizan compras dentro de la refaccionaria. Cada cliente cuenta con datos de identificación y contacto para facilitar el registro de las ventas.</a:t>
            </a:r>
          </a:p>
        </p:txBody>
      </p:sp>
    </p:spTree>
    <p:extLst>
      <p:ext uri="{BB962C8B-B14F-4D97-AF65-F5344CB8AC3E}">
        <p14:creationId xmlns:p14="http://schemas.microsoft.com/office/powerpoint/2010/main" val="215641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A9F46F-5B81-41FE-FB2D-383F24E5249F}"/>
              </a:ext>
            </a:extLst>
          </p:cNvPr>
          <p:cNvSpPr>
            <a:spLocks noGrp="1"/>
          </p:cNvSpPr>
          <p:nvPr>
            <p:ph type="title"/>
          </p:nvPr>
        </p:nvSpPr>
        <p:spPr/>
        <p:txBody>
          <a:bodyPr/>
          <a:lstStyle/>
          <a:p>
            <a:r>
              <a:rPr lang="es-MX" dirty="0"/>
              <a:t>empleados</a:t>
            </a:r>
          </a:p>
        </p:txBody>
      </p:sp>
      <p:pic>
        <p:nvPicPr>
          <p:cNvPr id="5" name="Marcador de contenido 4">
            <a:extLst>
              <a:ext uri="{FF2B5EF4-FFF2-40B4-BE49-F238E27FC236}">
                <a16:creationId xmlns:a16="http://schemas.microsoft.com/office/drawing/2014/main" id="{8D09BA70-BD8A-3F6B-8AF5-2EA110FDC172}"/>
              </a:ext>
            </a:extLst>
          </p:cNvPr>
          <p:cNvPicPr>
            <a:picLocks noGrp="1" noChangeAspect="1"/>
          </p:cNvPicPr>
          <p:nvPr>
            <p:ph idx="1"/>
          </p:nvPr>
        </p:nvPicPr>
        <p:blipFill>
          <a:blip r:embed="rId2"/>
          <a:stretch>
            <a:fillRect/>
          </a:stretch>
        </p:blipFill>
        <p:spPr>
          <a:xfrm>
            <a:off x="1034021" y="2006408"/>
            <a:ext cx="4724643" cy="3010055"/>
          </a:xfrm>
        </p:spPr>
      </p:pic>
      <p:pic>
        <p:nvPicPr>
          <p:cNvPr id="7" name="Imagen 6">
            <a:extLst>
              <a:ext uri="{FF2B5EF4-FFF2-40B4-BE49-F238E27FC236}">
                <a16:creationId xmlns:a16="http://schemas.microsoft.com/office/drawing/2014/main" id="{CA5B980D-2C68-739E-7912-4C0D94C78F3E}"/>
              </a:ext>
            </a:extLst>
          </p:cNvPr>
          <p:cNvPicPr>
            <a:picLocks noChangeAspect="1"/>
          </p:cNvPicPr>
          <p:nvPr/>
        </p:nvPicPr>
        <p:blipFill>
          <a:blip r:embed="rId3"/>
          <a:stretch>
            <a:fillRect/>
          </a:stretch>
        </p:blipFill>
        <p:spPr>
          <a:xfrm>
            <a:off x="5758664" y="1848509"/>
            <a:ext cx="5771455" cy="3160981"/>
          </a:xfrm>
          <a:prstGeom prst="rect">
            <a:avLst/>
          </a:prstGeom>
        </p:spPr>
      </p:pic>
      <p:sp>
        <p:nvSpPr>
          <p:cNvPr id="9" name="CuadroTexto 8">
            <a:extLst>
              <a:ext uri="{FF2B5EF4-FFF2-40B4-BE49-F238E27FC236}">
                <a16:creationId xmlns:a16="http://schemas.microsoft.com/office/drawing/2014/main" id="{0AD68DCF-CF5A-AC14-32F2-BEA56F0740D8}"/>
              </a:ext>
            </a:extLst>
          </p:cNvPr>
          <p:cNvSpPr txBox="1"/>
          <p:nvPr/>
        </p:nvSpPr>
        <p:spPr>
          <a:xfrm>
            <a:off x="1654628" y="5009490"/>
            <a:ext cx="6096000" cy="1200329"/>
          </a:xfrm>
          <a:prstGeom prst="rect">
            <a:avLst/>
          </a:prstGeom>
          <a:noFill/>
        </p:spPr>
        <p:txBody>
          <a:bodyPr wrap="square">
            <a:spAutoFit/>
          </a:bodyPr>
          <a:lstStyle/>
          <a:p>
            <a:r>
              <a:rPr lang="es-MX" dirty="0"/>
              <a:t>La tabla Empleados registra la información del personal que labora en la empresa. Se incluyeron datos como nombre, apellido, puesto, teléfono y salario para mantener un control adecuado del recurso humano.</a:t>
            </a:r>
          </a:p>
        </p:txBody>
      </p:sp>
    </p:spTree>
    <p:extLst>
      <p:ext uri="{BB962C8B-B14F-4D97-AF65-F5344CB8AC3E}">
        <p14:creationId xmlns:p14="http://schemas.microsoft.com/office/powerpoint/2010/main" val="61645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6DFCF7-437F-6F26-4424-CA2D8DDC8144}"/>
              </a:ext>
            </a:extLst>
          </p:cNvPr>
          <p:cNvSpPr>
            <a:spLocks noGrp="1"/>
          </p:cNvSpPr>
          <p:nvPr>
            <p:ph type="title"/>
          </p:nvPr>
        </p:nvSpPr>
        <p:spPr/>
        <p:txBody>
          <a:bodyPr/>
          <a:lstStyle/>
          <a:p>
            <a:r>
              <a:rPr lang="es-MX" dirty="0"/>
              <a:t>ventas</a:t>
            </a:r>
          </a:p>
        </p:txBody>
      </p:sp>
      <p:pic>
        <p:nvPicPr>
          <p:cNvPr id="5" name="Marcador de contenido 4">
            <a:extLst>
              <a:ext uri="{FF2B5EF4-FFF2-40B4-BE49-F238E27FC236}">
                <a16:creationId xmlns:a16="http://schemas.microsoft.com/office/drawing/2014/main" id="{C3BD85E7-D688-2485-6570-C1BE5BEDB4B9}"/>
              </a:ext>
            </a:extLst>
          </p:cNvPr>
          <p:cNvPicPr>
            <a:picLocks noGrp="1" noChangeAspect="1"/>
          </p:cNvPicPr>
          <p:nvPr>
            <p:ph idx="1"/>
          </p:nvPr>
        </p:nvPicPr>
        <p:blipFill>
          <a:blip r:embed="rId2"/>
          <a:stretch>
            <a:fillRect/>
          </a:stretch>
        </p:blipFill>
        <p:spPr>
          <a:xfrm>
            <a:off x="604907" y="1690688"/>
            <a:ext cx="6083613" cy="2171812"/>
          </a:xfrm>
        </p:spPr>
      </p:pic>
      <p:pic>
        <p:nvPicPr>
          <p:cNvPr id="7" name="Imagen 6">
            <a:extLst>
              <a:ext uri="{FF2B5EF4-FFF2-40B4-BE49-F238E27FC236}">
                <a16:creationId xmlns:a16="http://schemas.microsoft.com/office/drawing/2014/main" id="{57B6707C-E285-F8AE-A7BF-B736A90E0A6D}"/>
              </a:ext>
            </a:extLst>
          </p:cNvPr>
          <p:cNvPicPr>
            <a:picLocks noChangeAspect="1"/>
          </p:cNvPicPr>
          <p:nvPr/>
        </p:nvPicPr>
        <p:blipFill>
          <a:blip r:embed="rId3"/>
          <a:stretch>
            <a:fillRect/>
          </a:stretch>
        </p:blipFill>
        <p:spPr>
          <a:xfrm>
            <a:off x="7293428" y="1690688"/>
            <a:ext cx="4199341" cy="2544352"/>
          </a:xfrm>
          <a:prstGeom prst="rect">
            <a:avLst/>
          </a:prstGeom>
        </p:spPr>
      </p:pic>
      <p:sp>
        <p:nvSpPr>
          <p:cNvPr id="9" name="CuadroTexto 8">
            <a:extLst>
              <a:ext uri="{FF2B5EF4-FFF2-40B4-BE49-F238E27FC236}">
                <a16:creationId xmlns:a16="http://schemas.microsoft.com/office/drawing/2014/main" id="{7E26CB40-14F9-1D17-A3B5-3F8E1B1F37BE}"/>
              </a:ext>
            </a:extLst>
          </p:cNvPr>
          <p:cNvSpPr txBox="1"/>
          <p:nvPr/>
        </p:nvSpPr>
        <p:spPr>
          <a:xfrm>
            <a:off x="751114" y="4587898"/>
            <a:ext cx="6096000" cy="1200329"/>
          </a:xfrm>
          <a:prstGeom prst="rect">
            <a:avLst/>
          </a:prstGeom>
          <a:noFill/>
        </p:spPr>
        <p:txBody>
          <a:bodyPr wrap="square">
            <a:spAutoFit/>
          </a:bodyPr>
          <a:lstStyle/>
          <a:p>
            <a:r>
              <a:rPr lang="es-MX" dirty="0"/>
              <a:t>La tabla Ventas almacena las transacciones realizadas dentro de la refaccionaria. Cada registro relaciona a un cliente, un producto y un empleado, además de incluir la cantidad vendida, fecha de venta y total de la operación.</a:t>
            </a:r>
          </a:p>
        </p:txBody>
      </p:sp>
    </p:spTree>
    <p:extLst>
      <p:ext uri="{BB962C8B-B14F-4D97-AF65-F5344CB8AC3E}">
        <p14:creationId xmlns:p14="http://schemas.microsoft.com/office/powerpoint/2010/main" val="1592736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E4AA5A-01C7-795C-3FEB-B4F6F7D2091E}"/>
              </a:ext>
            </a:extLst>
          </p:cNvPr>
          <p:cNvSpPr>
            <a:spLocks noGrp="1"/>
          </p:cNvSpPr>
          <p:nvPr>
            <p:ph type="title"/>
          </p:nvPr>
        </p:nvSpPr>
        <p:spPr/>
        <p:txBody>
          <a:bodyPr/>
          <a:lstStyle/>
          <a:p>
            <a:r>
              <a:rPr lang="es-MX" dirty="0" err="1"/>
              <a:t>Verificacion</a:t>
            </a:r>
            <a:r>
              <a:rPr lang="es-MX" dirty="0"/>
              <a:t> </a:t>
            </a:r>
          </a:p>
        </p:txBody>
      </p:sp>
      <p:pic>
        <p:nvPicPr>
          <p:cNvPr id="5" name="Marcador de contenido 4">
            <a:extLst>
              <a:ext uri="{FF2B5EF4-FFF2-40B4-BE49-F238E27FC236}">
                <a16:creationId xmlns:a16="http://schemas.microsoft.com/office/drawing/2014/main" id="{4EE51F0B-E430-1466-8CC2-70C8916F4E46}"/>
              </a:ext>
            </a:extLst>
          </p:cNvPr>
          <p:cNvPicPr>
            <a:picLocks noGrp="1" noChangeAspect="1"/>
          </p:cNvPicPr>
          <p:nvPr>
            <p:ph idx="1"/>
          </p:nvPr>
        </p:nvPicPr>
        <p:blipFill>
          <a:blip r:embed="rId2"/>
          <a:stretch>
            <a:fillRect/>
          </a:stretch>
        </p:blipFill>
        <p:spPr>
          <a:xfrm>
            <a:off x="677082" y="2095431"/>
            <a:ext cx="3892750" cy="1333569"/>
          </a:xfrm>
        </p:spPr>
      </p:pic>
      <p:pic>
        <p:nvPicPr>
          <p:cNvPr id="7" name="Imagen 6">
            <a:extLst>
              <a:ext uri="{FF2B5EF4-FFF2-40B4-BE49-F238E27FC236}">
                <a16:creationId xmlns:a16="http://schemas.microsoft.com/office/drawing/2014/main" id="{BD2530E3-EF70-B65C-1997-73D56317D798}"/>
              </a:ext>
            </a:extLst>
          </p:cNvPr>
          <p:cNvPicPr>
            <a:picLocks noChangeAspect="1"/>
          </p:cNvPicPr>
          <p:nvPr/>
        </p:nvPicPr>
        <p:blipFill>
          <a:blip r:embed="rId3"/>
          <a:stretch>
            <a:fillRect/>
          </a:stretch>
        </p:blipFill>
        <p:spPr>
          <a:xfrm>
            <a:off x="4569832" y="2000177"/>
            <a:ext cx="2768742" cy="1428823"/>
          </a:xfrm>
          <a:prstGeom prst="rect">
            <a:avLst/>
          </a:prstGeom>
        </p:spPr>
      </p:pic>
      <p:sp>
        <p:nvSpPr>
          <p:cNvPr id="9" name="CuadroTexto 8">
            <a:extLst>
              <a:ext uri="{FF2B5EF4-FFF2-40B4-BE49-F238E27FC236}">
                <a16:creationId xmlns:a16="http://schemas.microsoft.com/office/drawing/2014/main" id="{FE53DE46-50A5-6DE1-6FCE-47B481BA4072}"/>
              </a:ext>
            </a:extLst>
          </p:cNvPr>
          <p:cNvSpPr txBox="1"/>
          <p:nvPr/>
        </p:nvSpPr>
        <p:spPr>
          <a:xfrm>
            <a:off x="1242574" y="3659164"/>
            <a:ext cx="6096000" cy="1477328"/>
          </a:xfrm>
          <a:prstGeom prst="rect">
            <a:avLst/>
          </a:prstGeom>
          <a:noFill/>
        </p:spPr>
        <p:txBody>
          <a:bodyPr wrap="square">
            <a:spAutoFit/>
          </a:bodyPr>
          <a:lstStyle/>
          <a:p>
            <a:r>
              <a:rPr lang="es-MX" dirty="0"/>
              <a:t>Finalmente se realizaron consultas de verificación para comprobar que los registros fueron almacenados correctamente y que las relaciones entre las tablas funcionan de manera adecuada. Esto permitió validar la integridad y consistencia de la información.</a:t>
            </a:r>
          </a:p>
        </p:txBody>
      </p:sp>
    </p:spTree>
    <p:extLst>
      <p:ext uri="{BB962C8B-B14F-4D97-AF65-F5344CB8AC3E}">
        <p14:creationId xmlns:p14="http://schemas.microsoft.com/office/powerpoint/2010/main" val="69377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EF116-C1E2-08DF-CA9F-98A401B01F24}"/>
              </a:ext>
            </a:extLst>
          </p:cNvPr>
          <p:cNvSpPr>
            <a:spLocks noGrp="1"/>
          </p:cNvSpPr>
          <p:nvPr>
            <p:ph type="title"/>
          </p:nvPr>
        </p:nvSpPr>
        <p:spPr/>
        <p:txBody>
          <a:bodyPr/>
          <a:lstStyle/>
          <a:p>
            <a:r>
              <a:rPr lang="es-MX" dirty="0" err="1"/>
              <a:t>Conclusion</a:t>
            </a:r>
            <a:r>
              <a:rPr lang="es-MX" dirty="0"/>
              <a:t> </a:t>
            </a:r>
          </a:p>
        </p:txBody>
      </p:sp>
      <p:sp>
        <p:nvSpPr>
          <p:cNvPr id="3" name="Marcador de contenido 2">
            <a:extLst>
              <a:ext uri="{FF2B5EF4-FFF2-40B4-BE49-F238E27FC236}">
                <a16:creationId xmlns:a16="http://schemas.microsoft.com/office/drawing/2014/main" id="{461C04FD-44A7-8AAC-1C30-78479A98482F}"/>
              </a:ext>
            </a:extLst>
          </p:cNvPr>
          <p:cNvSpPr>
            <a:spLocks noGrp="1"/>
          </p:cNvSpPr>
          <p:nvPr>
            <p:ph idx="1"/>
          </p:nvPr>
        </p:nvSpPr>
        <p:spPr/>
        <p:txBody>
          <a:bodyPr/>
          <a:lstStyle/>
          <a:p>
            <a:pPr marL="0" indent="0">
              <a:buNone/>
            </a:pPr>
            <a:r>
              <a:rPr lang="es-MX" dirty="0"/>
              <a:t>En conclusión, esta práctica permitió desarrollar una base de datos relacional para una refaccionaria utilizando PostgreSQL. La creación de tablas, inserción de registros y establecimiento de relaciones fortaleció los conocimientos sobre el diseño y administración de bases de datos. Además, se comprobó la importancia de mantener una estructura organizada que facilite la gestión de la información y la generación de consultas dentro del sistema.</a:t>
            </a:r>
          </a:p>
        </p:txBody>
      </p:sp>
    </p:spTree>
    <p:extLst>
      <p:ext uri="{BB962C8B-B14F-4D97-AF65-F5344CB8AC3E}">
        <p14:creationId xmlns:p14="http://schemas.microsoft.com/office/powerpoint/2010/main" val="10441441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607</Words>
  <Application>Microsoft Office PowerPoint</Application>
  <PresentationFormat>Panorámica</PresentationFormat>
  <Paragraphs>46</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Aptos Display</vt:lpstr>
      <vt:lpstr>Arial</vt:lpstr>
      <vt:lpstr>Century Gothic</vt:lpstr>
      <vt:lpstr>Tema de Office</vt:lpstr>
      <vt:lpstr>Presentación de PowerPoint</vt:lpstr>
      <vt:lpstr>Introduccion </vt:lpstr>
      <vt:lpstr>Justificación </vt:lpstr>
      <vt:lpstr>Creacion de base de datos </vt:lpstr>
      <vt:lpstr>Creacion de tablas </vt:lpstr>
      <vt:lpstr>Relaciones </vt:lpstr>
      <vt:lpstr>proveedores</vt:lpstr>
      <vt:lpstr>Productos </vt:lpstr>
      <vt:lpstr> clientes </vt:lpstr>
      <vt:lpstr>empleados</vt:lpstr>
      <vt:lpstr>ventas</vt:lpstr>
      <vt:lpstr>Verificacion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2026-06-15T17:41:06Z</dcterms:created>
  <dcterms:modified xsi:type="dcterms:W3CDTF">2026-06-15T18:27:49Z</dcterms:modified>
</cp:coreProperties>
</file>
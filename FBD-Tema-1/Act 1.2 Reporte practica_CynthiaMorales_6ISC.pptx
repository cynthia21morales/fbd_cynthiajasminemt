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3" r:id="rId3"/>
    <p:sldId id="274" r:id="rId4"/>
    <p:sldId id="258" r:id="rId5"/>
    <p:sldId id="259" r:id="rId6"/>
    <p:sldId id="260" r:id="rId7"/>
    <p:sldId id="261" r:id="rId8"/>
    <p:sldId id="262" r:id="rId9"/>
    <p:sldId id="263" r:id="rId10"/>
    <p:sldId id="265" r:id="rId11"/>
    <p:sldId id="266" r:id="rId12"/>
    <p:sldId id="264" r:id="rId13"/>
    <p:sldId id="267" r:id="rId14"/>
    <p:sldId id="268" r:id="rId15"/>
    <p:sldId id="269" r:id="rId16"/>
    <p:sldId id="270" r:id="rId17"/>
    <p:sldId id="271" r:id="rId18"/>
    <p:sldId id="275" r:id="rId19"/>
    <p:sldId id="272"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53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9E51E-2CF3-41BA-91D5-3EA3E97A4A54}" type="datetimeFigureOut">
              <a:rPr lang="es-MX" smtClean="0"/>
              <a:t>03/05/2026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F2A588-436C-47F5-A182-A2EBCF72D943}" type="slidenum">
              <a:rPr lang="es-MX" smtClean="0"/>
              <a:t>‹Nº›</a:t>
            </a:fld>
            <a:endParaRPr lang="es-MX"/>
          </a:p>
        </p:txBody>
      </p:sp>
    </p:spTree>
    <p:extLst>
      <p:ext uri="{BB962C8B-B14F-4D97-AF65-F5344CB8AC3E}">
        <p14:creationId xmlns:p14="http://schemas.microsoft.com/office/powerpoint/2010/main" val="757415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72F2A588-436C-47F5-A182-A2EBCF72D943}" type="slidenum">
              <a:rPr lang="es-MX" smtClean="0"/>
              <a:t>1</a:t>
            </a:fld>
            <a:endParaRPr lang="es-MX"/>
          </a:p>
        </p:txBody>
      </p:sp>
    </p:spTree>
    <p:extLst>
      <p:ext uri="{BB962C8B-B14F-4D97-AF65-F5344CB8AC3E}">
        <p14:creationId xmlns:p14="http://schemas.microsoft.com/office/powerpoint/2010/main" val="2993564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59770-4E9C-95F0-7FB8-846ACB1F685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B2933D4-78A8-F181-2059-2344A4835C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9077F20-FD9B-1A35-20F6-BB2342C72761}"/>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5993F279-7B43-EAE9-5CC7-D2588438170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51013F4-B215-C9ED-785A-56C35BA0CAD0}"/>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1821574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802F08-DE3B-74C4-7B97-0AE3D8CC00A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F8C1F4D-313F-73A7-2D76-A61B0BA2196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43E4E2B-835F-2BAE-06E2-DBC68EF959D5}"/>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ED716387-1E99-BB00-2C0C-9F0744F57C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859AC5-CC71-9A92-EA85-010D06F55DB8}"/>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1680037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DFE31-76B4-8C33-DCE0-278487D41BB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191C53B-AEA5-5B96-2B6D-128E753758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B55CB6E-52FC-0FAB-A04E-545E18D00C93}"/>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BB0A2AD7-0C14-1F87-4F17-F4AA119D938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544711-7CA7-5A71-9DDF-E56DA06C6602}"/>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2346731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FF280-2404-1F2A-58F4-2E9AAFAA8A4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6948A11-1377-72CA-0F79-45328C42404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F792690-3ACE-F063-4908-9F537C50BB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3438E78-53B8-0896-2E9C-22326C84C393}"/>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6" name="Marcador de pie de página 5">
            <a:extLst>
              <a:ext uri="{FF2B5EF4-FFF2-40B4-BE49-F238E27FC236}">
                <a16:creationId xmlns:a16="http://schemas.microsoft.com/office/drawing/2014/main" id="{9686C0C3-8CA7-AD62-57A0-672C83D1234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A80594-3FBA-02B7-CE37-280A5E339970}"/>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292776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32186-780E-9AC8-6872-2E3BB61BD56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AF5F9EA-6B31-8449-2114-6B42DEFA8E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54A4371-5C24-8C08-41EA-96C410C5B94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68ECAFD-22D2-9A77-0EB4-0B96EFD17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47CACCE-8285-501A-3984-A0CCB7DFBD3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60E563C-6DB7-6645-B1BF-690B26AB8697}"/>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8" name="Marcador de pie de página 7">
            <a:extLst>
              <a:ext uri="{FF2B5EF4-FFF2-40B4-BE49-F238E27FC236}">
                <a16:creationId xmlns:a16="http://schemas.microsoft.com/office/drawing/2014/main" id="{106F175B-5A17-E9D6-F28D-80F6BA3EC18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A79B084-5162-1B34-A836-AA147EB63E2C}"/>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1787607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39BEF6-6258-D3CE-985D-3E73E752423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3AE9DE6-9A0D-2CC5-F6F5-E78D23C83A70}"/>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4" name="Marcador de pie de página 3">
            <a:extLst>
              <a:ext uri="{FF2B5EF4-FFF2-40B4-BE49-F238E27FC236}">
                <a16:creationId xmlns:a16="http://schemas.microsoft.com/office/drawing/2014/main" id="{2AAEE69E-DF53-925E-F8B1-7370B5240A2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18C93F74-908A-AC43-D34C-2BBE8FC2CA0A}"/>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661528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CEFA53-AE39-24EB-F09C-46658718616C}"/>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3" name="Marcador de pie de página 2">
            <a:extLst>
              <a:ext uri="{FF2B5EF4-FFF2-40B4-BE49-F238E27FC236}">
                <a16:creationId xmlns:a16="http://schemas.microsoft.com/office/drawing/2014/main" id="{F2CB224F-A29C-1B94-8D80-D6BD8AC250C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5A0572B-6F83-9EB4-EB4B-4F6CF9EB9084}"/>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3444231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8EDAD1-C955-D78E-1D40-96C0487C98D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3ABDD7F-73E4-4B8A-AD61-91C7CFA2BC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E1DCC77-E34C-5FB1-F6CC-1773689C8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9725CC-66B3-DC2B-2464-C8FC0E31E394}"/>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6" name="Marcador de pie de página 5">
            <a:extLst>
              <a:ext uri="{FF2B5EF4-FFF2-40B4-BE49-F238E27FC236}">
                <a16:creationId xmlns:a16="http://schemas.microsoft.com/office/drawing/2014/main" id="{8BF474B2-EDEC-C350-F365-E9D4ABBF54B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D314C93-9482-621B-002A-74B986DF2EB2}"/>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2912776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705DBD-09FD-E32E-2931-3613B0E90F4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2944E71-F75B-6D1F-B1A0-004F91C36B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DA94085F-E7AC-7FFB-718C-D791AC4FA5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0CE317-0766-EB29-689C-BE9AF6D6EF08}"/>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6" name="Marcador de pie de página 5">
            <a:extLst>
              <a:ext uri="{FF2B5EF4-FFF2-40B4-BE49-F238E27FC236}">
                <a16:creationId xmlns:a16="http://schemas.microsoft.com/office/drawing/2014/main" id="{0622E1D5-08A6-79A9-7BC2-66E500BBC25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B805916-C167-4BDB-C56F-1BF045389B07}"/>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419305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FE12D4-EB54-259C-E513-6C9595ECC5F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785ACA8-90EA-5EF3-5848-1F4DCD544F7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BE366CE-38FF-E6B4-F210-2AD73C341CE1}"/>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F565AAA5-4F3D-9537-5CA0-8CBC2099327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591897B-37C1-0FB2-A3DD-D339FCC61A01}"/>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79939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37C05A-B907-404B-7671-B705789E133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A364C2F-3E5A-AB27-6381-96511267082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27531C1-1440-6B19-7D6C-FAA89FCF5921}"/>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04CBC614-F0E3-7447-D3F3-C5BB45DC2C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930FE65-6867-6005-2488-99C2EFA96046}"/>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359479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C95DF7F-6FA3-3832-F046-B4DEF2D4BE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002AE39-F2D6-2B0C-BEF4-52EB96A565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BF54989-CAD2-4F07-9FE1-8FD509CD86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6069F3AB-8C90-C89F-AE5D-F14A481811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594BD52-115C-7DB7-6048-35354E020E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C31565-27E9-4DBB-A07F-BF58B25B9698}" type="slidenum">
              <a:rPr lang="es-MX" smtClean="0"/>
              <a:t>‹Nº›</a:t>
            </a:fld>
            <a:endParaRPr lang="es-MX"/>
          </a:p>
        </p:txBody>
      </p:sp>
    </p:spTree>
    <p:extLst>
      <p:ext uri="{BB962C8B-B14F-4D97-AF65-F5344CB8AC3E}">
        <p14:creationId xmlns:p14="http://schemas.microsoft.com/office/powerpoint/2010/main" val="2572973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Cynthia21Morales/FBD_CynthiaJasmineMT/blob/main/Unidad%201/Act%201.2%20Reporte%20practica_CynthiaMorales_6ISC.pptx" TargetMode="External"/><Relationship Id="rId2" Type="http://schemas.openxmlformats.org/officeDocument/2006/relationships/hyperlink" Target="https://github.com/Cynthia21Morales/FBD_CynthiaJasmineMT/blob/main/Unidad%201/Prueba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29E44664-21C3-57F0-6F99-F382044CCA18}"/>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1.2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19 de </a:t>
            </a:r>
            <a:r>
              <a:rPr lang="en-US" sz="1600" dirty="0" err="1">
                <a:solidFill>
                  <a:srgbClr val="000000"/>
                </a:solidFill>
                <a:latin typeface="Century Gothic" panose="020B0502020202020204" pitchFamily="34" charset="0"/>
                <a:ea typeface="Glacial Indifference"/>
                <a:cs typeface="Glacial Indifference"/>
                <a:sym typeface="Glacial Indifference"/>
              </a:rPr>
              <a:t>abril</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5A20B0B0-48AB-ED42-CE34-978C040637F6}"/>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4271F4A5-EE02-A153-F937-CC9E31BA74F7}"/>
              </a:ext>
            </a:extLst>
          </p:cNvPr>
          <p:cNvGrpSpPr/>
          <p:nvPr/>
        </p:nvGrpSpPr>
        <p:grpSpPr>
          <a:xfrm>
            <a:off x="523335" y="31119"/>
            <a:ext cx="2709599" cy="1198176"/>
            <a:chOff x="0" y="0"/>
            <a:chExt cx="3073400" cy="1308100"/>
          </a:xfrm>
        </p:grpSpPr>
        <p:sp>
          <p:nvSpPr>
            <p:cNvPr id="7" name="Freeform 3">
              <a:extLst>
                <a:ext uri="{FF2B5EF4-FFF2-40B4-BE49-F238E27FC236}">
                  <a16:creationId xmlns:a16="http://schemas.microsoft.com/office/drawing/2014/main" id="{35A28C8A-B5B7-C329-02FF-012CFD1A7EBB}"/>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3"/>
              <a:stretch>
                <a:fillRect/>
              </a:stretch>
            </a:blipFill>
          </p:spPr>
        </p:sp>
      </p:grpSp>
      <p:grpSp>
        <p:nvGrpSpPr>
          <p:cNvPr id="8" name="Group 4">
            <a:extLst>
              <a:ext uri="{FF2B5EF4-FFF2-40B4-BE49-F238E27FC236}">
                <a16:creationId xmlns:a16="http://schemas.microsoft.com/office/drawing/2014/main" id="{740499E4-8976-145F-6E9F-A4C1835008D8}"/>
              </a:ext>
            </a:extLst>
          </p:cNvPr>
          <p:cNvGrpSpPr/>
          <p:nvPr/>
        </p:nvGrpSpPr>
        <p:grpSpPr>
          <a:xfrm>
            <a:off x="9187322" y="106714"/>
            <a:ext cx="1872270" cy="1245240"/>
            <a:chOff x="0" y="0"/>
            <a:chExt cx="1981200" cy="1625600"/>
          </a:xfrm>
        </p:grpSpPr>
        <p:sp>
          <p:nvSpPr>
            <p:cNvPr id="9" name="Freeform 5">
              <a:extLst>
                <a:ext uri="{FF2B5EF4-FFF2-40B4-BE49-F238E27FC236}">
                  <a16:creationId xmlns:a16="http://schemas.microsoft.com/office/drawing/2014/main" id="{7205C03C-E905-A6FB-8248-379AB328493E}"/>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4"/>
              <a:stretch>
                <a:fillRect/>
              </a:stretch>
            </a:blipFill>
          </p:spPr>
        </p:sp>
      </p:grpSp>
      <p:grpSp>
        <p:nvGrpSpPr>
          <p:cNvPr id="10" name="Group 6">
            <a:extLst>
              <a:ext uri="{FF2B5EF4-FFF2-40B4-BE49-F238E27FC236}">
                <a16:creationId xmlns:a16="http://schemas.microsoft.com/office/drawing/2014/main" id="{0524F89E-0460-2AD2-1FB5-D5534106C74F}"/>
              </a:ext>
            </a:extLst>
          </p:cNvPr>
          <p:cNvGrpSpPr/>
          <p:nvPr/>
        </p:nvGrpSpPr>
        <p:grpSpPr>
          <a:xfrm>
            <a:off x="4014015" y="269788"/>
            <a:ext cx="3812814" cy="709234"/>
            <a:chOff x="0" y="0"/>
            <a:chExt cx="4343400" cy="901700"/>
          </a:xfrm>
        </p:grpSpPr>
        <p:sp>
          <p:nvSpPr>
            <p:cNvPr id="11" name="Freeform 7">
              <a:extLst>
                <a:ext uri="{FF2B5EF4-FFF2-40B4-BE49-F238E27FC236}">
                  <a16:creationId xmlns:a16="http://schemas.microsoft.com/office/drawing/2014/main" id="{6DDFA005-3B69-3704-07B7-BCA9E9A62C0F}"/>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5"/>
              <a:stretch>
                <a:fillRect/>
              </a:stretch>
            </a:blipFill>
          </p:spPr>
        </p:sp>
      </p:grpSp>
    </p:spTree>
    <p:extLst>
      <p:ext uri="{BB962C8B-B14F-4D97-AF65-F5344CB8AC3E}">
        <p14:creationId xmlns:p14="http://schemas.microsoft.com/office/powerpoint/2010/main" val="782682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7CCCD-3C24-9C74-ED97-B040FAC65D49}"/>
              </a:ext>
            </a:extLst>
          </p:cNvPr>
          <p:cNvSpPr>
            <a:spLocks noGrp="1"/>
          </p:cNvSpPr>
          <p:nvPr>
            <p:ph type="title"/>
          </p:nvPr>
        </p:nvSpPr>
        <p:spPr/>
        <p:txBody>
          <a:bodyPr/>
          <a:lstStyle/>
          <a:p>
            <a:r>
              <a:rPr lang="es-MX" dirty="0"/>
              <a:t>INTRODUCCION </a:t>
            </a:r>
          </a:p>
        </p:txBody>
      </p:sp>
      <p:sp>
        <p:nvSpPr>
          <p:cNvPr id="3" name="Marcador de contenido 2">
            <a:extLst>
              <a:ext uri="{FF2B5EF4-FFF2-40B4-BE49-F238E27FC236}">
                <a16:creationId xmlns:a16="http://schemas.microsoft.com/office/drawing/2014/main" id="{583CAA8D-9C5E-1C3C-D3C8-FCAC9CA5BEFB}"/>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En el ámbito de la programación, los Sistemas Gestores de Bases de Datos (SGBD) son herramientas fundamentales para el almacenamiento, organización y manipulación de información. En la presente práctica se llevó a cabo la instalación y configuración de </a:t>
            </a:r>
            <a:r>
              <a:rPr lang="es-MX" sz="2000" dirty="0" err="1">
                <a:latin typeface="Arial" panose="020B0604020202020204" pitchFamily="34" charset="0"/>
                <a:cs typeface="Arial" panose="020B0604020202020204" pitchFamily="34" charset="0"/>
              </a:rPr>
              <a:t>pgAdmin</a:t>
            </a:r>
            <a:r>
              <a:rPr lang="es-MX" sz="2000" dirty="0">
                <a:latin typeface="Arial" panose="020B0604020202020204" pitchFamily="34" charset="0"/>
                <a:cs typeface="Arial" panose="020B0604020202020204" pitchFamily="34" charset="0"/>
              </a:rPr>
              <a:t>, así como la creación de una base de datos y una tabla dentro del sistema PostgreSQL.</a:t>
            </a:r>
          </a:p>
          <a:p>
            <a:pPr marL="0" indent="0" algn="just">
              <a:buNone/>
            </a:pPr>
            <a:r>
              <a:rPr lang="es-MX" sz="2000" dirty="0">
                <a:latin typeface="Arial" panose="020B0604020202020204" pitchFamily="34" charset="0"/>
                <a:cs typeface="Arial" panose="020B0604020202020204" pitchFamily="34" charset="0"/>
              </a:rPr>
              <a:t>Durante el desarrollo de esta actividad se realizaron diversos procedimientos, desde la instalación del software hasta la creación de registros dentro de una tabla, permitiendo comprender de manera práctica el funcionamiento básico de un SGBD. Esta experiencia contribuye al fortalecimiento de habilidades necesarias en la gestión de bases de datos dentro del área de Ingeniería en Sistemas Computacionales.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43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E4A663-E924-6F71-EECC-C1A280910335}"/>
              </a:ext>
            </a:extLst>
          </p:cNvPr>
          <p:cNvSpPr>
            <a:spLocks noGrp="1"/>
          </p:cNvSpPr>
          <p:nvPr>
            <p:ph type="title"/>
          </p:nvPr>
        </p:nvSpPr>
        <p:spPr/>
        <p:txBody>
          <a:bodyPr/>
          <a:lstStyle/>
          <a:p>
            <a:r>
              <a:rPr lang="es-MX" dirty="0"/>
              <a:t>JUSTIFICACION </a:t>
            </a:r>
          </a:p>
        </p:txBody>
      </p:sp>
      <p:sp>
        <p:nvSpPr>
          <p:cNvPr id="3" name="Marcador de contenido 2">
            <a:extLst>
              <a:ext uri="{FF2B5EF4-FFF2-40B4-BE49-F238E27FC236}">
                <a16:creationId xmlns:a16="http://schemas.microsoft.com/office/drawing/2014/main" id="{5455409F-5E6E-746F-93C0-F791CAAA4F1F}"/>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Esta práctica fue importante porque me permitió aprender de manera directa cómo instalar y utilizar </a:t>
            </a:r>
            <a:r>
              <a:rPr lang="es-MX" sz="2000" dirty="0" err="1">
                <a:latin typeface="Arial" panose="020B0604020202020204" pitchFamily="34" charset="0"/>
                <a:cs typeface="Arial" panose="020B0604020202020204" pitchFamily="34" charset="0"/>
              </a:rPr>
              <a:t>pgAdmin</a:t>
            </a:r>
            <a:r>
              <a:rPr lang="es-MX" sz="2000" dirty="0">
                <a:latin typeface="Arial" panose="020B0604020202020204" pitchFamily="34" charset="0"/>
                <a:cs typeface="Arial" panose="020B0604020202020204" pitchFamily="34" charset="0"/>
              </a:rPr>
              <a:t> para trabajar con bases de datos en PostgreSQL. A través de la creación de mi propia base de datos y tabla, pude comprender mejor cómo se organizan y almacenan los datos en un sistema real.</a:t>
            </a:r>
          </a:p>
          <a:p>
            <a:pPr marL="0" indent="0" algn="just">
              <a:buNone/>
            </a:pPr>
            <a:r>
              <a:rPr lang="es-MX" sz="2000" dirty="0">
                <a:latin typeface="Arial" panose="020B0604020202020204" pitchFamily="34" charset="0"/>
                <a:cs typeface="Arial" panose="020B0604020202020204" pitchFamily="34" charset="0"/>
              </a:rPr>
              <a:t>Considero que esta actividad me ayudó a reforzar mis conocimientos y a desarrollar habilidades prácticas que serán útiles en mi formación como estudiante de Ingeniería en Sistemas Computacionales.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0255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B9E7D-03D7-3D20-E25B-1060D3EDD136}"/>
              </a:ext>
            </a:extLst>
          </p:cNvPr>
          <p:cNvSpPr>
            <a:spLocks noGrp="1"/>
          </p:cNvSpPr>
          <p:nvPr>
            <p:ph type="title"/>
          </p:nvPr>
        </p:nvSpPr>
        <p:spPr/>
        <p:txBody>
          <a:bodyPr/>
          <a:lstStyle/>
          <a:p>
            <a:r>
              <a:rPr lang="es-MX" dirty="0"/>
              <a:t>1. Comience ejecutando el archivo de instalación haciendo doble clic en él.</a:t>
            </a:r>
          </a:p>
        </p:txBody>
      </p:sp>
      <p:pic>
        <p:nvPicPr>
          <p:cNvPr id="5" name="Marcador de contenido 4">
            <a:extLst>
              <a:ext uri="{FF2B5EF4-FFF2-40B4-BE49-F238E27FC236}">
                <a16:creationId xmlns:a16="http://schemas.microsoft.com/office/drawing/2014/main" id="{3297482C-838E-0B6F-391B-83E311E453B4}"/>
              </a:ext>
            </a:extLst>
          </p:cNvPr>
          <p:cNvPicPr>
            <a:picLocks noGrp="1" noChangeAspect="1"/>
          </p:cNvPicPr>
          <p:nvPr>
            <p:ph idx="1"/>
          </p:nvPr>
        </p:nvPicPr>
        <p:blipFill>
          <a:blip r:embed="rId2"/>
          <a:stretch>
            <a:fillRect/>
          </a:stretch>
        </p:blipFill>
        <p:spPr>
          <a:xfrm>
            <a:off x="1113867" y="1725874"/>
            <a:ext cx="5700590" cy="4351338"/>
          </a:xfrm>
        </p:spPr>
      </p:pic>
      <p:pic>
        <p:nvPicPr>
          <p:cNvPr id="7" name="Imagen 6">
            <a:extLst>
              <a:ext uri="{FF2B5EF4-FFF2-40B4-BE49-F238E27FC236}">
                <a16:creationId xmlns:a16="http://schemas.microsoft.com/office/drawing/2014/main" id="{D675F249-AAD6-5D3A-4B0C-B5EDE5039224}"/>
              </a:ext>
            </a:extLst>
          </p:cNvPr>
          <p:cNvPicPr>
            <a:picLocks noChangeAspect="1"/>
          </p:cNvPicPr>
          <p:nvPr/>
        </p:nvPicPr>
        <p:blipFill>
          <a:blip r:embed="rId3"/>
          <a:stretch>
            <a:fillRect/>
          </a:stretch>
        </p:blipFill>
        <p:spPr>
          <a:xfrm>
            <a:off x="9699171" y="440679"/>
            <a:ext cx="1211888" cy="1174455"/>
          </a:xfrm>
          <a:prstGeom prst="rect">
            <a:avLst/>
          </a:prstGeom>
        </p:spPr>
      </p:pic>
      <p:sp>
        <p:nvSpPr>
          <p:cNvPr id="8" name="CuadroTexto 7">
            <a:extLst>
              <a:ext uri="{FF2B5EF4-FFF2-40B4-BE49-F238E27FC236}">
                <a16:creationId xmlns:a16="http://schemas.microsoft.com/office/drawing/2014/main" id="{3D34EA1E-FC06-ABBF-DDDD-8B1D33E715E5}"/>
              </a:ext>
            </a:extLst>
          </p:cNvPr>
          <p:cNvSpPr txBox="1"/>
          <p:nvPr/>
        </p:nvSpPr>
        <p:spPr>
          <a:xfrm>
            <a:off x="7119257" y="5617029"/>
            <a:ext cx="3265715" cy="369332"/>
          </a:xfrm>
          <a:prstGeom prst="rect">
            <a:avLst/>
          </a:prstGeom>
          <a:noFill/>
        </p:spPr>
        <p:txBody>
          <a:bodyPr wrap="square" rtlCol="0">
            <a:spAutoFit/>
          </a:bodyPr>
          <a:lstStyle/>
          <a:p>
            <a:r>
              <a:rPr lang="es-MX" dirty="0"/>
              <a:t>De </a:t>
            </a:r>
            <a:r>
              <a:rPr lang="es-MX" dirty="0" err="1"/>
              <a:t>click</a:t>
            </a:r>
            <a:r>
              <a:rPr lang="es-MX" dirty="0"/>
              <a:t> al botón </a:t>
            </a:r>
            <a:r>
              <a:rPr lang="es-MX" b="1" dirty="0"/>
              <a:t>Next</a:t>
            </a:r>
            <a:endParaRPr lang="es-MX" dirty="0"/>
          </a:p>
        </p:txBody>
      </p:sp>
      <p:sp>
        <p:nvSpPr>
          <p:cNvPr id="15" name="Flecha: curvada hacia abajo 14">
            <a:extLst>
              <a:ext uri="{FF2B5EF4-FFF2-40B4-BE49-F238E27FC236}">
                <a16:creationId xmlns:a16="http://schemas.microsoft.com/office/drawing/2014/main" id="{E3423FD0-4E9D-D1D4-C8F5-D97504A7455D}"/>
              </a:ext>
            </a:extLst>
          </p:cNvPr>
          <p:cNvSpPr/>
          <p:nvPr/>
        </p:nvSpPr>
        <p:spPr>
          <a:xfrm flipH="1">
            <a:off x="5530078" y="4889627"/>
            <a:ext cx="3178358" cy="55450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3493476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80A52C-BEAE-C9C5-0B68-AB221E98A9C7}"/>
              </a:ext>
            </a:extLst>
          </p:cNvPr>
          <p:cNvSpPr>
            <a:spLocks noGrp="1"/>
          </p:cNvSpPr>
          <p:nvPr>
            <p:ph type="title"/>
          </p:nvPr>
        </p:nvSpPr>
        <p:spPr/>
        <p:txBody>
          <a:bodyPr/>
          <a:lstStyle/>
          <a:p>
            <a:r>
              <a:rPr lang="es-MX" dirty="0"/>
              <a:t>2. En nuestra segunda ventana aceptaremos el acuerdo de licencia y seleccione </a:t>
            </a:r>
            <a:r>
              <a:rPr lang="es-MX" b="1" dirty="0" err="1"/>
              <a:t>next</a:t>
            </a:r>
            <a:endParaRPr lang="es-MX" b="1" dirty="0"/>
          </a:p>
        </p:txBody>
      </p:sp>
      <p:pic>
        <p:nvPicPr>
          <p:cNvPr id="5" name="Marcador de contenido 4">
            <a:extLst>
              <a:ext uri="{FF2B5EF4-FFF2-40B4-BE49-F238E27FC236}">
                <a16:creationId xmlns:a16="http://schemas.microsoft.com/office/drawing/2014/main" id="{DE864BB2-88DC-C769-F65B-7F9D9E6EB064}"/>
              </a:ext>
            </a:extLst>
          </p:cNvPr>
          <p:cNvPicPr>
            <a:picLocks noGrp="1" noChangeAspect="1"/>
          </p:cNvPicPr>
          <p:nvPr>
            <p:ph idx="1"/>
          </p:nvPr>
        </p:nvPicPr>
        <p:blipFill>
          <a:blip r:embed="rId2"/>
          <a:stretch>
            <a:fillRect/>
          </a:stretch>
        </p:blipFill>
        <p:spPr>
          <a:xfrm>
            <a:off x="3311694" y="1825625"/>
            <a:ext cx="5568611" cy="4351338"/>
          </a:xfrm>
        </p:spPr>
      </p:pic>
      <p:cxnSp>
        <p:nvCxnSpPr>
          <p:cNvPr id="10" name="Conector recto de flecha 9">
            <a:extLst>
              <a:ext uri="{FF2B5EF4-FFF2-40B4-BE49-F238E27FC236}">
                <a16:creationId xmlns:a16="http://schemas.microsoft.com/office/drawing/2014/main" id="{3CB933FE-4866-16CB-7526-9BBCCC47B36D}"/>
              </a:ext>
            </a:extLst>
          </p:cNvPr>
          <p:cNvCxnSpPr>
            <a:cxnSpLocks/>
          </p:cNvCxnSpPr>
          <p:nvPr/>
        </p:nvCxnSpPr>
        <p:spPr>
          <a:xfrm flipH="1">
            <a:off x="7712765" y="1825625"/>
            <a:ext cx="1749287" cy="374028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80167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CF25F1-0B5D-6327-982E-6F5BC18C8AA0}"/>
              </a:ext>
            </a:extLst>
          </p:cNvPr>
          <p:cNvSpPr>
            <a:spLocks noGrp="1"/>
          </p:cNvSpPr>
          <p:nvPr>
            <p:ph type="title"/>
          </p:nvPr>
        </p:nvSpPr>
        <p:spPr/>
        <p:txBody>
          <a:bodyPr/>
          <a:lstStyle/>
          <a:p>
            <a:r>
              <a:rPr lang="es-MX" dirty="0"/>
              <a:t>3. Continuaremos el inicio de instalación dando </a:t>
            </a:r>
            <a:r>
              <a:rPr lang="es-MX" dirty="0" err="1"/>
              <a:t>click</a:t>
            </a:r>
            <a:r>
              <a:rPr lang="es-MX" dirty="0"/>
              <a:t> en </a:t>
            </a:r>
            <a:r>
              <a:rPr lang="es-MX" dirty="0" err="1"/>
              <a:t>install</a:t>
            </a:r>
            <a:endParaRPr lang="es-MX" dirty="0"/>
          </a:p>
        </p:txBody>
      </p:sp>
      <p:pic>
        <p:nvPicPr>
          <p:cNvPr id="5" name="Marcador de contenido 4">
            <a:extLst>
              <a:ext uri="{FF2B5EF4-FFF2-40B4-BE49-F238E27FC236}">
                <a16:creationId xmlns:a16="http://schemas.microsoft.com/office/drawing/2014/main" id="{AF72DAF7-45F7-0636-A6CE-79104D742A7C}"/>
              </a:ext>
            </a:extLst>
          </p:cNvPr>
          <p:cNvPicPr>
            <a:picLocks noGrp="1" noChangeAspect="1"/>
          </p:cNvPicPr>
          <p:nvPr>
            <p:ph idx="1"/>
          </p:nvPr>
        </p:nvPicPr>
        <p:blipFill>
          <a:blip r:embed="rId2"/>
          <a:stretch>
            <a:fillRect/>
          </a:stretch>
        </p:blipFill>
        <p:spPr>
          <a:xfrm>
            <a:off x="3283685" y="1825625"/>
            <a:ext cx="5624630" cy="4351338"/>
          </a:xfrm>
        </p:spPr>
      </p:pic>
      <p:cxnSp>
        <p:nvCxnSpPr>
          <p:cNvPr id="7" name="Conector recto de flecha 6">
            <a:extLst>
              <a:ext uri="{FF2B5EF4-FFF2-40B4-BE49-F238E27FC236}">
                <a16:creationId xmlns:a16="http://schemas.microsoft.com/office/drawing/2014/main" id="{34A22586-674B-83AF-A42A-4338FCB163DE}"/>
              </a:ext>
            </a:extLst>
          </p:cNvPr>
          <p:cNvCxnSpPr/>
          <p:nvPr/>
        </p:nvCxnSpPr>
        <p:spPr>
          <a:xfrm>
            <a:off x="5019472" y="1690688"/>
            <a:ext cx="2548647" cy="389298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4834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610BC-1A8F-0D47-5CA1-4E308E9EC7E7}"/>
              </a:ext>
            </a:extLst>
          </p:cNvPr>
          <p:cNvSpPr>
            <a:spLocks noGrp="1"/>
          </p:cNvSpPr>
          <p:nvPr>
            <p:ph type="title"/>
          </p:nvPr>
        </p:nvSpPr>
        <p:spPr/>
        <p:txBody>
          <a:bodyPr/>
          <a:lstStyle/>
          <a:p>
            <a:r>
              <a:rPr lang="es-MX" dirty="0"/>
              <a:t>4. </a:t>
            </a:r>
            <a:r>
              <a:rPr lang="es-MX" dirty="0" err="1"/>
              <a:t>Comenzo</a:t>
            </a:r>
            <a:r>
              <a:rPr lang="es-MX" dirty="0"/>
              <a:t> la instalación de </a:t>
            </a:r>
            <a:r>
              <a:rPr lang="es-MX" dirty="0" err="1"/>
              <a:t>PgAdmin</a:t>
            </a:r>
            <a:endParaRPr lang="es-MX" dirty="0"/>
          </a:p>
        </p:txBody>
      </p:sp>
      <p:pic>
        <p:nvPicPr>
          <p:cNvPr id="11" name="Marcador de contenido 10">
            <a:extLst>
              <a:ext uri="{FF2B5EF4-FFF2-40B4-BE49-F238E27FC236}">
                <a16:creationId xmlns:a16="http://schemas.microsoft.com/office/drawing/2014/main" id="{B303E057-124A-E3D5-8D61-C8D85C614B01}"/>
              </a:ext>
            </a:extLst>
          </p:cNvPr>
          <p:cNvPicPr>
            <a:picLocks noGrp="1" noChangeAspect="1"/>
          </p:cNvPicPr>
          <p:nvPr>
            <p:ph idx="1"/>
          </p:nvPr>
        </p:nvPicPr>
        <p:blipFill>
          <a:blip r:embed="rId2"/>
          <a:stretch>
            <a:fillRect/>
          </a:stretch>
        </p:blipFill>
        <p:spPr>
          <a:xfrm>
            <a:off x="3245705" y="1825625"/>
            <a:ext cx="5700590" cy="4351338"/>
          </a:xfrm>
        </p:spPr>
      </p:pic>
    </p:spTree>
    <p:extLst>
      <p:ext uri="{BB962C8B-B14F-4D97-AF65-F5344CB8AC3E}">
        <p14:creationId xmlns:p14="http://schemas.microsoft.com/office/powerpoint/2010/main" val="316063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E20E66-1127-3ADC-6DFD-C3CC6034F781}"/>
              </a:ext>
            </a:extLst>
          </p:cNvPr>
          <p:cNvSpPr>
            <a:spLocks noGrp="1"/>
          </p:cNvSpPr>
          <p:nvPr>
            <p:ph type="title"/>
          </p:nvPr>
        </p:nvSpPr>
        <p:spPr/>
        <p:txBody>
          <a:bodyPr/>
          <a:lstStyle/>
          <a:p>
            <a:r>
              <a:rPr lang="es-MX" dirty="0"/>
              <a:t>5. Con esta siguiente pantalla finaliza la </a:t>
            </a:r>
            <a:r>
              <a:rPr lang="es-MX" dirty="0" err="1"/>
              <a:t>instalacion</a:t>
            </a:r>
            <a:endParaRPr lang="es-MX" dirty="0"/>
          </a:p>
        </p:txBody>
      </p:sp>
      <p:pic>
        <p:nvPicPr>
          <p:cNvPr id="5" name="Marcador de contenido 4">
            <a:extLst>
              <a:ext uri="{FF2B5EF4-FFF2-40B4-BE49-F238E27FC236}">
                <a16:creationId xmlns:a16="http://schemas.microsoft.com/office/drawing/2014/main" id="{951404E6-E0FA-B9A1-E82C-71DB4C0F96D7}"/>
              </a:ext>
            </a:extLst>
          </p:cNvPr>
          <p:cNvPicPr>
            <a:picLocks noGrp="1" noChangeAspect="1"/>
          </p:cNvPicPr>
          <p:nvPr>
            <p:ph idx="1"/>
          </p:nvPr>
        </p:nvPicPr>
        <p:blipFill>
          <a:blip r:embed="rId2"/>
          <a:stretch>
            <a:fillRect/>
          </a:stretch>
        </p:blipFill>
        <p:spPr>
          <a:xfrm>
            <a:off x="3259958" y="1825625"/>
            <a:ext cx="5672083" cy="4351338"/>
          </a:xfrm>
        </p:spPr>
      </p:pic>
    </p:spTree>
    <p:extLst>
      <p:ext uri="{BB962C8B-B14F-4D97-AF65-F5344CB8AC3E}">
        <p14:creationId xmlns:p14="http://schemas.microsoft.com/office/powerpoint/2010/main" val="576702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D0350-3D99-8ABB-EFDE-502621428F8A}"/>
              </a:ext>
            </a:extLst>
          </p:cNvPr>
          <p:cNvSpPr>
            <a:spLocks noGrp="1"/>
          </p:cNvSpPr>
          <p:nvPr>
            <p:ph type="title"/>
          </p:nvPr>
        </p:nvSpPr>
        <p:spPr>
          <a:xfrm>
            <a:off x="1861457" y="332468"/>
            <a:ext cx="10515600" cy="1325563"/>
          </a:xfrm>
        </p:spPr>
        <p:txBody>
          <a:bodyPr/>
          <a:lstStyle/>
          <a:p>
            <a:r>
              <a:rPr lang="es-MX" dirty="0"/>
              <a:t>Y ENTRAMOS A PGADMIN</a:t>
            </a:r>
          </a:p>
        </p:txBody>
      </p:sp>
      <p:pic>
        <p:nvPicPr>
          <p:cNvPr id="5" name="Marcador de contenido 4">
            <a:extLst>
              <a:ext uri="{FF2B5EF4-FFF2-40B4-BE49-F238E27FC236}">
                <a16:creationId xmlns:a16="http://schemas.microsoft.com/office/drawing/2014/main" id="{2C60BD36-D3B6-5D03-87EF-44FC9BC09417}"/>
              </a:ext>
            </a:extLst>
          </p:cNvPr>
          <p:cNvPicPr>
            <a:picLocks noGrp="1" noChangeAspect="1"/>
          </p:cNvPicPr>
          <p:nvPr>
            <p:ph idx="1"/>
          </p:nvPr>
        </p:nvPicPr>
        <p:blipFill>
          <a:blip r:embed="rId2"/>
          <a:stretch>
            <a:fillRect/>
          </a:stretch>
        </p:blipFill>
        <p:spPr>
          <a:xfrm>
            <a:off x="195052" y="1553482"/>
            <a:ext cx="5422866" cy="4351338"/>
          </a:xfrm>
        </p:spPr>
      </p:pic>
      <p:pic>
        <p:nvPicPr>
          <p:cNvPr id="4" name="Imagen 3">
            <a:extLst>
              <a:ext uri="{FF2B5EF4-FFF2-40B4-BE49-F238E27FC236}">
                <a16:creationId xmlns:a16="http://schemas.microsoft.com/office/drawing/2014/main" id="{80732EB2-4276-B972-C484-B4E52C654D9D}"/>
              </a:ext>
            </a:extLst>
          </p:cNvPr>
          <p:cNvPicPr>
            <a:picLocks noChangeAspect="1"/>
          </p:cNvPicPr>
          <p:nvPr/>
        </p:nvPicPr>
        <p:blipFill>
          <a:blip r:embed="rId3"/>
          <a:stretch>
            <a:fillRect/>
          </a:stretch>
        </p:blipFill>
        <p:spPr>
          <a:xfrm>
            <a:off x="5969850" y="1658031"/>
            <a:ext cx="5779659" cy="3254829"/>
          </a:xfrm>
          <a:prstGeom prst="rect">
            <a:avLst/>
          </a:prstGeom>
        </p:spPr>
      </p:pic>
    </p:spTree>
    <p:extLst>
      <p:ext uri="{BB962C8B-B14F-4D97-AF65-F5344CB8AC3E}">
        <p14:creationId xmlns:p14="http://schemas.microsoft.com/office/powerpoint/2010/main" val="90364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186D3-9FD1-FAD7-5549-A43B4ABA23B9}"/>
              </a:ext>
            </a:extLst>
          </p:cNvPr>
          <p:cNvSpPr>
            <a:spLocks noGrp="1"/>
          </p:cNvSpPr>
          <p:nvPr>
            <p:ph type="title"/>
          </p:nvPr>
        </p:nvSpPr>
        <p:spPr/>
        <p:txBody>
          <a:bodyPr>
            <a:normAutofit fontScale="90000"/>
          </a:bodyPr>
          <a:lstStyle/>
          <a:p>
            <a:r>
              <a:rPr lang="es-MX" dirty="0"/>
              <a:t>Realizamos nuestro servidor donde trabajaremos nuestra base de datos, damos </a:t>
            </a:r>
            <a:r>
              <a:rPr lang="es-MX" dirty="0" err="1"/>
              <a:t>click</a:t>
            </a:r>
            <a:r>
              <a:rPr lang="es-MX" dirty="0"/>
              <a:t> derecho en </a:t>
            </a:r>
            <a:r>
              <a:rPr lang="es-MX" dirty="0" err="1"/>
              <a:t>service</a:t>
            </a:r>
            <a:r>
              <a:rPr lang="es-MX" dirty="0"/>
              <a:t>-</a:t>
            </a:r>
            <a:r>
              <a:rPr lang="es-MX" dirty="0" err="1"/>
              <a:t>register</a:t>
            </a:r>
            <a:r>
              <a:rPr lang="es-MX" dirty="0"/>
              <a:t>-server</a:t>
            </a:r>
          </a:p>
        </p:txBody>
      </p:sp>
      <p:pic>
        <p:nvPicPr>
          <p:cNvPr id="5" name="Marcador de contenido 4">
            <a:extLst>
              <a:ext uri="{FF2B5EF4-FFF2-40B4-BE49-F238E27FC236}">
                <a16:creationId xmlns:a16="http://schemas.microsoft.com/office/drawing/2014/main" id="{12199EA1-29BC-83C7-8BF2-701E80C3742A}"/>
              </a:ext>
            </a:extLst>
          </p:cNvPr>
          <p:cNvPicPr>
            <a:picLocks noGrp="1" noChangeAspect="1"/>
          </p:cNvPicPr>
          <p:nvPr>
            <p:ph idx="1"/>
          </p:nvPr>
        </p:nvPicPr>
        <p:blipFill>
          <a:blip r:embed="rId2"/>
          <a:stretch>
            <a:fillRect/>
          </a:stretch>
        </p:blipFill>
        <p:spPr>
          <a:xfrm>
            <a:off x="2194968" y="2073540"/>
            <a:ext cx="7802064" cy="4334480"/>
          </a:xfrm>
        </p:spPr>
      </p:pic>
    </p:spTree>
    <p:extLst>
      <p:ext uri="{BB962C8B-B14F-4D97-AF65-F5344CB8AC3E}">
        <p14:creationId xmlns:p14="http://schemas.microsoft.com/office/powerpoint/2010/main" val="2165359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F953C-36D3-04E6-FEB0-BEDF03F7119A}"/>
              </a:ext>
            </a:extLst>
          </p:cNvPr>
          <p:cNvSpPr>
            <a:spLocks noGrp="1"/>
          </p:cNvSpPr>
          <p:nvPr>
            <p:ph type="title"/>
          </p:nvPr>
        </p:nvSpPr>
        <p:spPr>
          <a:xfrm>
            <a:off x="163285" y="517527"/>
            <a:ext cx="5802086" cy="690788"/>
          </a:xfrm>
        </p:spPr>
        <p:txBody>
          <a:bodyPr>
            <a:noAutofit/>
          </a:bodyPr>
          <a:lstStyle/>
          <a:p>
            <a:r>
              <a:rPr lang="es-MX" sz="3200" dirty="0"/>
              <a:t>Rellenamos el parámetro </a:t>
            </a:r>
            <a:r>
              <a:rPr lang="es-MX" sz="3200" dirty="0" err="1"/>
              <a:t>name</a:t>
            </a:r>
            <a:r>
              <a:rPr lang="es-MX" sz="3200" dirty="0"/>
              <a:t> de la siguiente manera</a:t>
            </a:r>
          </a:p>
        </p:txBody>
      </p:sp>
      <p:pic>
        <p:nvPicPr>
          <p:cNvPr id="5" name="Marcador de contenido 4">
            <a:extLst>
              <a:ext uri="{FF2B5EF4-FFF2-40B4-BE49-F238E27FC236}">
                <a16:creationId xmlns:a16="http://schemas.microsoft.com/office/drawing/2014/main" id="{23F18155-DB60-DDC7-1EA7-EEAA32FB7ACA}"/>
              </a:ext>
            </a:extLst>
          </p:cNvPr>
          <p:cNvPicPr>
            <a:picLocks noGrp="1" noChangeAspect="1"/>
          </p:cNvPicPr>
          <p:nvPr>
            <p:ph idx="1"/>
          </p:nvPr>
        </p:nvPicPr>
        <p:blipFill>
          <a:blip r:embed="rId2"/>
          <a:stretch>
            <a:fillRect/>
          </a:stretch>
        </p:blipFill>
        <p:spPr>
          <a:xfrm>
            <a:off x="0" y="1607911"/>
            <a:ext cx="6211550" cy="3311316"/>
          </a:xfrm>
          <a:ln>
            <a:solidFill>
              <a:schemeClr val="accent1"/>
            </a:solidFill>
          </a:ln>
        </p:spPr>
      </p:pic>
      <p:pic>
        <p:nvPicPr>
          <p:cNvPr id="7" name="Imagen 6">
            <a:extLst>
              <a:ext uri="{FF2B5EF4-FFF2-40B4-BE49-F238E27FC236}">
                <a16:creationId xmlns:a16="http://schemas.microsoft.com/office/drawing/2014/main" id="{06B4111B-81ED-B9F4-AA57-A6A2CA818D38}"/>
              </a:ext>
            </a:extLst>
          </p:cNvPr>
          <p:cNvPicPr>
            <a:picLocks noChangeAspect="1"/>
          </p:cNvPicPr>
          <p:nvPr/>
        </p:nvPicPr>
        <p:blipFill>
          <a:blip r:embed="rId3"/>
          <a:stretch>
            <a:fillRect/>
          </a:stretch>
        </p:blipFill>
        <p:spPr>
          <a:xfrm>
            <a:off x="6302829" y="1607911"/>
            <a:ext cx="5889171" cy="3311316"/>
          </a:xfrm>
          <a:prstGeom prst="rect">
            <a:avLst/>
          </a:prstGeom>
          <a:ln>
            <a:solidFill>
              <a:schemeClr val="accent1"/>
            </a:solidFill>
          </a:ln>
        </p:spPr>
      </p:pic>
      <p:sp>
        <p:nvSpPr>
          <p:cNvPr id="10" name="Título 1">
            <a:extLst>
              <a:ext uri="{FF2B5EF4-FFF2-40B4-BE49-F238E27FC236}">
                <a16:creationId xmlns:a16="http://schemas.microsoft.com/office/drawing/2014/main" id="{9CBFB2A5-9810-6861-608D-E9D8A4B46D38}"/>
              </a:ext>
            </a:extLst>
          </p:cNvPr>
          <p:cNvSpPr txBox="1">
            <a:spLocks/>
          </p:cNvSpPr>
          <p:nvPr/>
        </p:nvSpPr>
        <p:spPr>
          <a:xfrm>
            <a:off x="6302829" y="491675"/>
            <a:ext cx="5802086" cy="6907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t>Nos vamos a la segunda sección </a:t>
            </a:r>
            <a:r>
              <a:rPr lang="es-MX" sz="2800" dirty="0" err="1"/>
              <a:t>connection</a:t>
            </a:r>
            <a:r>
              <a:rPr lang="es-MX" sz="2800" dirty="0"/>
              <a:t> y tiene que estar de la siguiente manera y damos </a:t>
            </a:r>
            <a:r>
              <a:rPr lang="es-MX" sz="2800" dirty="0" err="1"/>
              <a:t>click</a:t>
            </a:r>
            <a:r>
              <a:rPr lang="es-MX" sz="2800" dirty="0"/>
              <a:t> en </a:t>
            </a:r>
            <a:r>
              <a:rPr lang="es-MX" sz="2400" dirty="0" err="1"/>
              <a:t>save</a:t>
            </a:r>
            <a:endParaRPr lang="es-MX" sz="2800" dirty="0"/>
          </a:p>
        </p:txBody>
      </p:sp>
    </p:spTree>
    <p:extLst>
      <p:ext uri="{BB962C8B-B14F-4D97-AF65-F5344CB8AC3E}">
        <p14:creationId xmlns:p14="http://schemas.microsoft.com/office/powerpoint/2010/main" val="3800726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ACD541-C1CA-6C0E-E32C-A56E3F90DCDA}"/>
              </a:ext>
            </a:extLst>
          </p:cNvPr>
          <p:cNvSpPr>
            <a:spLocks noGrp="1"/>
          </p:cNvSpPr>
          <p:nvPr>
            <p:ph type="title"/>
          </p:nvPr>
        </p:nvSpPr>
        <p:spPr/>
        <p:txBody>
          <a:bodyPr>
            <a:normAutofit fontScale="90000"/>
          </a:bodyPr>
          <a:lstStyle/>
          <a:p>
            <a:r>
              <a:rPr lang="es-MX" dirty="0"/>
              <a:t>Comenzamos creando nuestra primer base de datos dando </a:t>
            </a:r>
            <a:r>
              <a:rPr lang="es-MX" dirty="0" err="1"/>
              <a:t>click</a:t>
            </a:r>
            <a:r>
              <a:rPr lang="es-MX" dirty="0"/>
              <a:t> derecho y nos </a:t>
            </a:r>
            <a:r>
              <a:rPr lang="es-MX" dirty="0" err="1"/>
              <a:t>dirijimos</a:t>
            </a:r>
            <a:r>
              <a:rPr lang="es-MX" dirty="0"/>
              <a:t> a créate y damos </a:t>
            </a:r>
            <a:r>
              <a:rPr lang="es-MX" dirty="0" err="1"/>
              <a:t>click</a:t>
            </a:r>
            <a:r>
              <a:rPr lang="es-MX" dirty="0"/>
              <a:t> en </a:t>
            </a:r>
            <a:r>
              <a:rPr lang="es-MX" dirty="0" err="1"/>
              <a:t>database</a:t>
            </a:r>
            <a:endParaRPr lang="es-MX" dirty="0"/>
          </a:p>
        </p:txBody>
      </p:sp>
      <p:pic>
        <p:nvPicPr>
          <p:cNvPr id="5" name="Marcador de contenido 4">
            <a:extLst>
              <a:ext uri="{FF2B5EF4-FFF2-40B4-BE49-F238E27FC236}">
                <a16:creationId xmlns:a16="http://schemas.microsoft.com/office/drawing/2014/main" id="{F00DDD57-BAC8-0A37-9F4A-B3DA37E77FC0}"/>
              </a:ext>
            </a:extLst>
          </p:cNvPr>
          <p:cNvPicPr>
            <a:picLocks noGrp="1" noChangeAspect="1"/>
          </p:cNvPicPr>
          <p:nvPr>
            <p:ph idx="1"/>
          </p:nvPr>
        </p:nvPicPr>
        <p:blipFill>
          <a:blip r:embed="rId2"/>
          <a:stretch>
            <a:fillRect/>
          </a:stretch>
        </p:blipFill>
        <p:spPr>
          <a:xfrm>
            <a:off x="3466414" y="1912711"/>
            <a:ext cx="5259171" cy="4351338"/>
          </a:xfrm>
        </p:spPr>
      </p:pic>
    </p:spTree>
    <p:extLst>
      <p:ext uri="{BB962C8B-B14F-4D97-AF65-F5344CB8AC3E}">
        <p14:creationId xmlns:p14="http://schemas.microsoft.com/office/powerpoint/2010/main" val="352545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BE87E-4AA4-6A4B-7168-8E1BCAAD9299}"/>
              </a:ext>
            </a:extLst>
          </p:cNvPr>
          <p:cNvSpPr>
            <a:spLocks noGrp="1"/>
          </p:cNvSpPr>
          <p:nvPr>
            <p:ph type="title"/>
          </p:nvPr>
        </p:nvSpPr>
        <p:spPr/>
        <p:txBody>
          <a:bodyPr>
            <a:normAutofit fontScale="90000"/>
          </a:bodyPr>
          <a:lstStyle/>
          <a:p>
            <a:r>
              <a:rPr lang="es-MX" dirty="0"/>
              <a:t>Le colocaremos nombre a nuestra base de datos y se llamara prueba 1 y damos </a:t>
            </a:r>
            <a:r>
              <a:rPr lang="es-MX" dirty="0" err="1"/>
              <a:t>click</a:t>
            </a:r>
            <a:r>
              <a:rPr lang="es-MX" dirty="0"/>
              <a:t> en </a:t>
            </a:r>
            <a:r>
              <a:rPr lang="es-MX" dirty="0" err="1"/>
              <a:t>save</a:t>
            </a:r>
            <a:endParaRPr lang="es-MX" dirty="0"/>
          </a:p>
        </p:txBody>
      </p:sp>
      <p:pic>
        <p:nvPicPr>
          <p:cNvPr id="11" name="Marcador de contenido 10">
            <a:extLst>
              <a:ext uri="{FF2B5EF4-FFF2-40B4-BE49-F238E27FC236}">
                <a16:creationId xmlns:a16="http://schemas.microsoft.com/office/drawing/2014/main" id="{EA3457AA-5404-AC13-93A8-605C19B015CD}"/>
              </a:ext>
            </a:extLst>
          </p:cNvPr>
          <p:cNvPicPr>
            <a:picLocks noGrp="1" noChangeAspect="1"/>
          </p:cNvPicPr>
          <p:nvPr>
            <p:ph idx="1"/>
          </p:nvPr>
        </p:nvPicPr>
        <p:blipFill>
          <a:blip r:embed="rId2"/>
          <a:stretch>
            <a:fillRect/>
          </a:stretch>
        </p:blipFill>
        <p:spPr>
          <a:xfrm>
            <a:off x="2038557" y="1825625"/>
            <a:ext cx="8114885" cy="4351338"/>
          </a:xfrm>
        </p:spPr>
      </p:pic>
    </p:spTree>
    <p:extLst>
      <p:ext uri="{BB962C8B-B14F-4D97-AF65-F5344CB8AC3E}">
        <p14:creationId xmlns:p14="http://schemas.microsoft.com/office/powerpoint/2010/main" val="49311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echa: curvada hacia arriba 9">
            <a:extLst>
              <a:ext uri="{FF2B5EF4-FFF2-40B4-BE49-F238E27FC236}">
                <a16:creationId xmlns:a16="http://schemas.microsoft.com/office/drawing/2014/main" id="{D9A7DDC3-5743-45B8-C3F5-1D8DE82CC366}"/>
              </a:ext>
            </a:extLst>
          </p:cNvPr>
          <p:cNvSpPr/>
          <p:nvPr/>
        </p:nvSpPr>
        <p:spPr>
          <a:xfrm>
            <a:off x="6096000" y="5050633"/>
            <a:ext cx="1894114" cy="818828"/>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2" name="Título 1">
            <a:extLst>
              <a:ext uri="{FF2B5EF4-FFF2-40B4-BE49-F238E27FC236}">
                <a16:creationId xmlns:a16="http://schemas.microsoft.com/office/drawing/2014/main" id="{9DBF6FD9-FA89-0AA3-E391-0A3C699B6561}"/>
              </a:ext>
            </a:extLst>
          </p:cNvPr>
          <p:cNvSpPr>
            <a:spLocks noGrp="1"/>
          </p:cNvSpPr>
          <p:nvPr>
            <p:ph type="title"/>
          </p:nvPr>
        </p:nvSpPr>
        <p:spPr/>
        <p:txBody>
          <a:bodyPr>
            <a:noAutofit/>
          </a:bodyPr>
          <a:lstStyle/>
          <a:p>
            <a:r>
              <a:rPr lang="es-MX" sz="3200" dirty="0"/>
              <a:t>Enseguida nos adentramos dentro de base de datos buscando prueba1 Donde crearemos nuestras tabla llamada usuario</a:t>
            </a:r>
          </a:p>
        </p:txBody>
      </p:sp>
      <p:pic>
        <p:nvPicPr>
          <p:cNvPr id="5" name="Marcador de contenido 4">
            <a:extLst>
              <a:ext uri="{FF2B5EF4-FFF2-40B4-BE49-F238E27FC236}">
                <a16:creationId xmlns:a16="http://schemas.microsoft.com/office/drawing/2014/main" id="{51BF0873-6365-67AD-9F82-6B60FE62FC24}"/>
              </a:ext>
            </a:extLst>
          </p:cNvPr>
          <p:cNvPicPr>
            <a:picLocks noGrp="1" noChangeAspect="1"/>
          </p:cNvPicPr>
          <p:nvPr>
            <p:ph idx="1"/>
          </p:nvPr>
        </p:nvPicPr>
        <p:blipFill>
          <a:blip r:embed="rId2"/>
          <a:stretch>
            <a:fillRect/>
          </a:stretch>
        </p:blipFill>
        <p:spPr>
          <a:xfrm>
            <a:off x="199122" y="1690688"/>
            <a:ext cx="2032742" cy="4351338"/>
          </a:xfrm>
        </p:spPr>
      </p:pic>
      <p:pic>
        <p:nvPicPr>
          <p:cNvPr id="7" name="Imagen 6">
            <a:extLst>
              <a:ext uri="{FF2B5EF4-FFF2-40B4-BE49-F238E27FC236}">
                <a16:creationId xmlns:a16="http://schemas.microsoft.com/office/drawing/2014/main" id="{ABC94CC2-D95F-BD2B-A2EF-E9FEE2B4CFC4}"/>
              </a:ext>
            </a:extLst>
          </p:cNvPr>
          <p:cNvPicPr>
            <a:picLocks noChangeAspect="1"/>
          </p:cNvPicPr>
          <p:nvPr/>
        </p:nvPicPr>
        <p:blipFill>
          <a:blip r:embed="rId3"/>
          <a:srcRect r="48303"/>
          <a:stretch/>
        </p:blipFill>
        <p:spPr>
          <a:xfrm>
            <a:off x="1939284" y="1471971"/>
            <a:ext cx="4917089" cy="5020904"/>
          </a:xfrm>
          <a:prstGeom prst="rect">
            <a:avLst/>
          </a:prstGeom>
        </p:spPr>
      </p:pic>
      <p:pic>
        <p:nvPicPr>
          <p:cNvPr id="9" name="Imagen 8">
            <a:extLst>
              <a:ext uri="{FF2B5EF4-FFF2-40B4-BE49-F238E27FC236}">
                <a16:creationId xmlns:a16="http://schemas.microsoft.com/office/drawing/2014/main" id="{4F685EDD-79AC-2358-46A2-D952EFA76EBD}"/>
              </a:ext>
            </a:extLst>
          </p:cNvPr>
          <p:cNvPicPr>
            <a:picLocks noChangeAspect="1"/>
          </p:cNvPicPr>
          <p:nvPr/>
        </p:nvPicPr>
        <p:blipFill>
          <a:blip r:embed="rId4"/>
          <a:stretch>
            <a:fillRect/>
          </a:stretch>
        </p:blipFill>
        <p:spPr>
          <a:xfrm>
            <a:off x="5792609" y="1539214"/>
            <a:ext cx="6399391" cy="3444176"/>
          </a:xfrm>
          <a:prstGeom prst="rect">
            <a:avLst/>
          </a:prstGeom>
        </p:spPr>
      </p:pic>
    </p:spTree>
    <p:extLst>
      <p:ext uri="{BB962C8B-B14F-4D97-AF65-F5344CB8AC3E}">
        <p14:creationId xmlns:p14="http://schemas.microsoft.com/office/powerpoint/2010/main" val="863807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3AD8A-D9ED-BEFF-A41A-982C99919C37}"/>
              </a:ext>
            </a:extLst>
          </p:cNvPr>
          <p:cNvSpPr>
            <a:spLocks noGrp="1"/>
          </p:cNvSpPr>
          <p:nvPr>
            <p:ph type="title"/>
          </p:nvPr>
        </p:nvSpPr>
        <p:spPr>
          <a:xfrm>
            <a:off x="364325" y="365125"/>
            <a:ext cx="11718471" cy="1325563"/>
          </a:xfrm>
        </p:spPr>
        <p:txBody>
          <a:bodyPr>
            <a:noAutofit/>
          </a:bodyPr>
          <a:lstStyle/>
          <a:p>
            <a:r>
              <a:rPr lang="es-MX" sz="3200" dirty="0"/>
              <a:t>Nos </a:t>
            </a:r>
            <a:r>
              <a:rPr lang="es-MX" sz="3200" dirty="0" err="1"/>
              <a:t>dirijimos</a:t>
            </a:r>
            <a:r>
              <a:rPr lang="es-MX" sz="3200" dirty="0"/>
              <a:t> a la segunda sección </a:t>
            </a:r>
            <a:r>
              <a:rPr lang="es-MX" sz="3200" dirty="0" err="1"/>
              <a:t>columms</a:t>
            </a:r>
            <a:r>
              <a:rPr lang="es-MX" sz="3200" dirty="0"/>
              <a:t> donde agregaremos los siguientes datos, continuando nos vamos a </a:t>
            </a:r>
            <a:r>
              <a:rPr lang="es-MX" sz="3200" dirty="0" err="1"/>
              <a:t>constraints</a:t>
            </a:r>
            <a:r>
              <a:rPr lang="es-MX" sz="3200" dirty="0"/>
              <a:t>  y agregamos lo que se presenta en las imágenes y guardamos en </a:t>
            </a:r>
            <a:r>
              <a:rPr lang="es-MX" sz="3200" dirty="0" err="1"/>
              <a:t>save</a:t>
            </a:r>
            <a:r>
              <a:rPr lang="es-MX" sz="3200" dirty="0"/>
              <a:t>  y quedaría nuestra primer tabla</a:t>
            </a:r>
          </a:p>
        </p:txBody>
      </p:sp>
      <p:pic>
        <p:nvPicPr>
          <p:cNvPr id="5" name="Marcador de contenido 4">
            <a:extLst>
              <a:ext uri="{FF2B5EF4-FFF2-40B4-BE49-F238E27FC236}">
                <a16:creationId xmlns:a16="http://schemas.microsoft.com/office/drawing/2014/main" id="{F44A93CF-3FB1-9CE9-C988-CE76B6BBCEF9}"/>
              </a:ext>
            </a:extLst>
          </p:cNvPr>
          <p:cNvPicPr>
            <a:picLocks noGrp="1" noChangeAspect="1"/>
          </p:cNvPicPr>
          <p:nvPr>
            <p:ph idx="1"/>
          </p:nvPr>
        </p:nvPicPr>
        <p:blipFill>
          <a:blip r:embed="rId2"/>
          <a:stretch>
            <a:fillRect/>
          </a:stretch>
        </p:blipFill>
        <p:spPr>
          <a:xfrm>
            <a:off x="364325" y="2414588"/>
            <a:ext cx="5731675" cy="3001737"/>
          </a:xfrm>
        </p:spPr>
      </p:pic>
      <p:pic>
        <p:nvPicPr>
          <p:cNvPr id="7" name="Imagen 6">
            <a:extLst>
              <a:ext uri="{FF2B5EF4-FFF2-40B4-BE49-F238E27FC236}">
                <a16:creationId xmlns:a16="http://schemas.microsoft.com/office/drawing/2014/main" id="{7F9132A9-309B-3A93-0E68-589D5F7C2355}"/>
              </a:ext>
            </a:extLst>
          </p:cNvPr>
          <p:cNvPicPr>
            <a:picLocks noChangeAspect="1"/>
          </p:cNvPicPr>
          <p:nvPr/>
        </p:nvPicPr>
        <p:blipFill>
          <a:blip r:embed="rId3"/>
          <a:stretch>
            <a:fillRect/>
          </a:stretch>
        </p:blipFill>
        <p:spPr>
          <a:xfrm>
            <a:off x="5671111" y="2414588"/>
            <a:ext cx="6411685" cy="2146581"/>
          </a:xfrm>
          <a:prstGeom prst="rect">
            <a:avLst/>
          </a:prstGeom>
        </p:spPr>
      </p:pic>
    </p:spTree>
    <p:extLst>
      <p:ext uri="{BB962C8B-B14F-4D97-AF65-F5344CB8AC3E}">
        <p14:creationId xmlns:p14="http://schemas.microsoft.com/office/powerpoint/2010/main" val="2374943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55DB2C-BA21-232D-71A7-11CCF92A53AE}"/>
              </a:ext>
            </a:extLst>
          </p:cNvPr>
          <p:cNvSpPr>
            <a:spLocks noGrp="1"/>
          </p:cNvSpPr>
          <p:nvPr>
            <p:ph type="title"/>
          </p:nvPr>
        </p:nvSpPr>
        <p:spPr/>
        <p:txBody>
          <a:bodyPr>
            <a:noAutofit/>
          </a:bodyPr>
          <a:lstStyle/>
          <a:p>
            <a:r>
              <a:rPr lang="es-MX" sz="2800" dirty="0" err="1"/>
              <a:t>Despues</a:t>
            </a:r>
            <a:r>
              <a:rPr lang="es-MX" sz="2800" dirty="0"/>
              <a:t> nos </a:t>
            </a:r>
            <a:r>
              <a:rPr lang="es-MX" sz="2800" dirty="0" err="1"/>
              <a:t>dirijimos</a:t>
            </a:r>
            <a:r>
              <a:rPr lang="es-MX" sz="2800" dirty="0"/>
              <a:t> a nuestra tabla usuarios </a:t>
            </a:r>
            <a:r>
              <a:rPr lang="es-MX" sz="2800" dirty="0" err="1"/>
              <a:t>click</a:t>
            </a:r>
            <a:r>
              <a:rPr lang="es-MX" sz="2800" dirty="0"/>
              <a:t> derecho y seleccionamos </a:t>
            </a:r>
            <a:r>
              <a:rPr lang="es-MX" sz="2800" dirty="0" err="1"/>
              <a:t>view</a:t>
            </a:r>
            <a:r>
              <a:rPr lang="es-MX" sz="2800" dirty="0"/>
              <a:t>/</a:t>
            </a:r>
            <a:r>
              <a:rPr lang="es-MX" sz="2800" dirty="0" err="1"/>
              <a:t>edit</a:t>
            </a:r>
            <a:r>
              <a:rPr lang="es-MX" sz="2800" dirty="0"/>
              <a:t> Data y después a </a:t>
            </a:r>
            <a:r>
              <a:rPr lang="es-MX" sz="2800" dirty="0" err="1"/>
              <a:t>All</a:t>
            </a:r>
            <a:r>
              <a:rPr lang="es-MX" sz="2800" dirty="0"/>
              <a:t> </a:t>
            </a:r>
            <a:r>
              <a:rPr lang="es-MX" sz="2800" dirty="0" err="1"/>
              <a:t>Rows</a:t>
            </a:r>
            <a:r>
              <a:rPr lang="es-MX" sz="2800" dirty="0"/>
              <a:t>, en seguida se nos presentara en la parte baja nuestra tabla y realizaremos registros</a:t>
            </a:r>
          </a:p>
        </p:txBody>
      </p:sp>
      <p:pic>
        <p:nvPicPr>
          <p:cNvPr id="5" name="Marcador de contenido 4">
            <a:extLst>
              <a:ext uri="{FF2B5EF4-FFF2-40B4-BE49-F238E27FC236}">
                <a16:creationId xmlns:a16="http://schemas.microsoft.com/office/drawing/2014/main" id="{0AB9A4E7-B4B3-A6DE-F344-A22F4F20DBFA}"/>
              </a:ext>
            </a:extLst>
          </p:cNvPr>
          <p:cNvPicPr>
            <a:picLocks noGrp="1" noChangeAspect="1"/>
          </p:cNvPicPr>
          <p:nvPr>
            <p:ph idx="1"/>
          </p:nvPr>
        </p:nvPicPr>
        <p:blipFill>
          <a:blip r:embed="rId2"/>
          <a:stretch>
            <a:fillRect/>
          </a:stretch>
        </p:blipFill>
        <p:spPr>
          <a:xfrm>
            <a:off x="694805" y="1690688"/>
            <a:ext cx="4695618" cy="1573212"/>
          </a:xfrm>
        </p:spPr>
      </p:pic>
      <p:pic>
        <p:nvPicPr>
          <p:cNvPr id="7" name="Imagen 6">
            <a:extLst>
              <a:ext uri="{FF2B5EF4-FFF2-40B4-BE49-F238E27FC236}">
                <a16:creationId xmlns:a16="http://schemas.microsoft.com/office/drawing/2014/main" id="{A9602C6D-C94B-C5B7-995C-9FDB97728C2A}"/>
              </a:ext>
            </a:extLst>
          </p:cNvPr>
          <p:cNvPicPr>
            <a:picLocks noChangeAspect="1"/>
          </p:cNvPicPr>
          <p:nvPr/>
        </p:nvPicPr>
        <p:blipFill>
          <a:blip r:embed="rId3"/>
          <a:stretch>
            <a:fillRect/>
          </a:stretch>
        </p:blipFill>
        <p:spPr>
          <a:xfrm>
            <a:off x="3862036" y="2783649"/>
            <a:ext cx="7136164" cy="3707533"/>
          </a:xfrm>
          <a:prstGeom prst="rect">
            <a:avLst/>
          </a:prstGeom>
        </p:spPr>
      </p:pic>
    </p:spTree>
    <p:extLst>
      <p:ext uri="{BB962C8B-B14F-4D97-AF65-F5344CB8AC3E}">
        <p14:creationId xmlns:p14="http://schemas.microsoft.com/office/powerpoint/2010/main" val="3636830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55814E-7665-4BA4-D40D-1EDCDB1BC487}"/>
              </a:ext>
            </a:extLst>
          </p:cNvPr>
          <p:cNvSpPr>
            <a:spLocks noGrp="1"/>
          </p:cNvSpPr>
          <p:nvPr>
            <p:ph type="title"/>
          </p:nvPr>
        </p:nvSpPr>
        <p:spPr/>
        <p:txBody>
          <a:bodyPr/>
          <a:lstStyle/>
          <a:p>
            <a:r>
              <a:rPr lang="es-MX" dirty="0"/>
              <a:t>Y así es como quedaría el registro de nuestra tabla usuarios</a:t>
            </a:r>
          </a:p>
        </p:txBody>
      </p:sp>
      <p:pic>
        <p:nvPicPr>
          <p:cNvPr id="11" name="Marcador de contenido 10">
            <a:extLst>
              <a:ext uri="{FF2B5EF4-FFF2-40B4-BE49-F238E27FC236}">
                <a16:creationId xmlns:a16="http://schemas.microsoft.com/office/drawing/2014/main" id="{58C17E71-7D2F-0C38-47F2-BE6AA8F38301}"/>
              </a:ext>
            </a:extLst>
          </p:cNvPr>
          <p:cNvPicPr>
            <a:picLocks noGrp="1" noChangeAspect="1"/>
          </p:cNvPicPr>
          <p:nvPr>
            <p:ph idx="1"/>
          </p:nvPr>
        </p:nvPicPr>
        <p:blipFill>
          <a:blip r:embed="rId2"/>
          <a:stretch>
            <a:fillRect/>
          </a:stretch>
        </p:blipFill>
        <p:spPr>
          <a:xfrm>
            <a:off x="1974471" y="1825625"/>
            <a:ext cx="8243057" cy="4351338"/>
          </a:xfrm>
        </p:spPr>
      </p:pic>
    </p:spTree>
    <p:extLst>
      <p:ext uri="{BB962C8B-B14F-4D97-AF65-F5344CB8AC3E}">
        <p14:creationId xmlns:p14="http://schemas.microsoft.com/office/powerpoint/2010/main" val="200872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7B44E2-D841-27D3-D0DA-901B15D5B2D6}"/>
              </a:ext>
            </a:extLst>
          </p:cNvPr>
          <p:cNvSpPr>
            <a:spLocks noGrp="1"/>
          </p:cNvSpPr>
          <p:nvPr>
            <p:ph type="title"/>
          </p:nvPr>
        </p:nvSpPr>
        <p:spPr/>
        <p:txBody>
          <a:bodyPr/>
          <a:lstStyle/>
          <a:p>
            <a:r>
              <a:rPr lang="es-MX" dirty="0"/>
              <a:t>CONCLUSION </a:t>
            </a:r>
          </a:p>
        </p:txBody>
      </p:sp>
      <p:sp>
        <p:nvSpPr>
          <p:cNvPr id="3" name="Marcador de contenido 2">
            <a:extLst>
              <a:ext uri="{FF2B5EF4-FFF2-40B4-BE49-F238E27FC236}">
                <a16:creationId xmlns:a16="http://schemas.microsoft.com/office/drawing/2014/main" id="{13C559E1-A780-D0D9-7C66-459E5D644A48}"/>
              </a:ext>
            </a:extLst>
          </p:cNvPr>
          <p:cNvSpPr>
            <a:spLocks noGrp="1"/>
          </p:cNvSpPr>
          <p:nvPr>
            <p:ph idx="1"/>
          </p:nvPr>
        </p:nvSpPr>
        <p:spPr/>
        <p:txBody>
          <a:bodyPr>
            <a:normAutofit/>
          </a:bodyPr>
          <a:lstStyle/>
          <a:p>
            <a:pPr marL="0" indent="0" algn="just">
              <a:buNone/>
            </a:pPr>
            <a:r>
              <a:rPr lang="es-MX" sz="2400" dirty="0">
                <a:latin typeface="Arial" panose="020B0604020202020204" pitchFamily="34" charset="0"/>
                <a:cs typeface="Arial" panose="020B0604020202020204" pitchFamily="34" charset="0"/>
              </a:rPr>
              <a:t>En conclusión, esta práctica me permitió aprender a utilizar </a:t>
            </a:r>
            <a:r>
              <a:rPr lang="es-MX" sz="2400" dirty="0" err="1">
                <a:latin typeface="Arial" panose="020B0604020202020204" pitchFamily="34" charset="0"/>
                <a:cs typeface="Arial" panose="020B0604020202020204" pitchFamily="34" charset="0"/>
              </a:rPr>
              <a:t>pgAdmin</a:t>
            </a:r>
            <a:r>
              <a:rPr lang="es-MX" sz="2400" dirty="0">
                <a:latin typeface="Arial" panose="020B0604020202020204" pitchFamily="34" charset="0"/>
                <a:cs typeface="Arial" panose="020B0604020202020204" pitchFamily="34" charset="0"/>
              </a:rPr>
              <a:t> y comprender el funcionamiento básico de PostgreSQL. Considero que fue una experiencia útil, ya que pude crear y manejar una base de datos de manera práctica, reforzando mis conocimientos para futuros proyectos.</a:t>
            </a:r>
          </a:p>
        </p:txBody>
      </p:sp>
    </p:spTree>
    <p:extLst>
      <p:ext uri="{BB962C8B-B14F-4D97-AF65-F5344CB8AC3E}">
        <p14:creationId xmlns:p14="http://schemas.microsoft.com/office/powerpoint/2010/main" val="2008076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9F47A2-E2F4-F8FA-E793-4AA0CCE1147C}"/>
              </a:ext>
            </a:extLst>
          </p:cNvPr>
          <p:cNvSpPr>
            <a:spLocks noGrp="1"/>
          </p:cNvSpPr>
          <p:nvPr>
            <p:ph type="title"/>
          </p:nvPr>
        </p:nvSpPr>
        <p:spPr/>
        <p:txBody>
          <a:bodyPr/>
          <a:lstStyle/>
          <a:p>
            <a:r>
              <a:rPr lang="es-MX" dirty="0"/>
              <a:t>ANEXO LINK DE LA ACTIVIDAD SOLICITADA Y ENVIADA POR GITHUB</a:t>
            </a:r>
          </a:p>
        </p:txBody>
      </p:sp>
      <p:sp>
        <p:nvSpPr>
          <p:cNvPr id="3" name="Marcador de contenido 2">
            <a:extLst>
              <a:ext uri="{FF2B5EF4-FFF2-40B4-BE49-F238E27FC236}">
                <a16:creationId xmlns:a16="http://schemas.microsoft.com/office/drawing/2014/main" id="{2D19C950-354E-B8C3-F84F-F9885CB5F3B8}"/>
              </a:ext>
            </a:extLst>
          </p:cNvPr>
          <p:cNvSpPr>
            <a:spLocks noGrp="1"/>
          </p:cNvSpPr>
          <p:nvPr>
            <p:ph idx="1"/>
          </p:nvPr>
        </p:nvSpPr>
        <p:spPr>
          <a:xfrm>
            <a:off x="977900" y="3167727"/>
            <a:ext cx="10515600" cy="954107"/>
          </a:xfrm>
        </p:spPr>
        <p:txBody>
          <a:bodyPr>
            <a:noAutofit/>
          </a:bodyPr>
          <a:lstStyle/>
          <a:p>
            <a:pPr marL="0" indent="0">
              <a:buNone/>
            </a:pPr>
            <a:r>
              <a:rPr lang="es-MX" sz="3200" dirty="0"/>
              <a:t>ARCHIVO DE LA BASE DE DATOS PRUEBA1</a:t>
            </a:r>
          </a:p>
          <a:p>
            <a:endParaRPr lang="es-MX" sz="3200" dirty="0"/>
          </a:p>
        </p:txBody>
      </p:sp>
      <p:sp>
        <p:nvSpPr>
          <p:cNvPr id="5" name="CuadroTexto 4">
            <a:hlinkClick r:id="rId2"/>
            <a:extLst>
              <a:ext uri="{FF2B5EF4-FFF2-40B4-BE49-F238E27FC236}">
                <a16:creationId xmlns:a16="http://schemas.microsoft.com/office/drawing/2014/main" id="{233C7C83-5C6D-A9F6-F49F-601E9B87D207}"/>
              </a:ext>
            </a:extLst>
          </p:cNvPr>
          <p:cNvSpPr txBox="1"/>
          <p:nvPr/>
        </p:nvSpPr>
        <p:spPr>
          <a:xfrm>
            <a:off x="977900" y="4121834"/>
            <a:ext cx="10668000" cy="954107"/>
          </a:xfrm>
          <a:prstGeom prst="rect">
            <a:avLst/>
          </a:prstGeom>
          <a:noFill/>
        </p:spPr>
        <p:txBody>
          <a:bodyPr wrap="square">
            <a:spAutoFit/>
          </a:bodyPr>
          <a:lstStyle/>
          <a:p>
            <a:r>
              <a:rPr lang="es-MX" sz="2800" dirty="0"/>
              <a:t>https://github.com/Cynthia21Morales/FBD_CynthiaJasmineMT/blob/main/Unidad%201/Prueba1</a:t>
            </a:r>
          </a:p>
        </p:txBody>
      </p:sp>
      <p:sp>
        <p:nvSpPr>
          <p:cNvPr id="7" name="CuadroTexto 6">
            <a:hlinkClick r:id="rId3"/>
            <a:extLst>
              <a:ext uri="{FF2B5EF4-FFF2-40B4-BE49-F238E27FC236}">
                <a16:creationId xmlns:a16="http://schemas.microsoft.com/office/drawing/2014/main" id="{093C8B13-BCC6-2045-37D3-8DC47C269472}"/>
              </a:ext>
            </a:extLst>
          </p:cNvPr>
          <p:cNvSpPr txBox="1"/>
          <p:nvPr/>
        </p:nvSpPr>
        <p:spPr>
          <a:xfrm>
            <a:off x="977900" y="1890454"/>
            <a:ext cx="10299700" cy="830997"/>
          </a:xfrm>
          <a:prstGeom prst="rect">
            <a:avLst/>
          </a:prstGeom>
          <a:noFill/>
        </p:spPr>
        <p:txBody>
          <a:bodyPr wrap="square">
            <a:spAutoFit/>
          </a:bodyPr>
          <a:lstStyle/>
          <a:p>
            <a:r>
              <a:rPr lang="es-MX" sz="2400" dirty="0"/>
              <a:t>https://github.com/Cynthia21Morales/FBD_CynthiaJasmineMT/blob/main/Unidad%201/Act%201.2%20Reporte%20practica_CynthiaMorales_6ISC.pptx</a:t>
            </a:r>
          </a:p>
        </p:txBody>
      </p:sp>
    </p:spTree>
    <p:extLst>
      <p:ext uri="{BB962C8B-B14F-4D97-AF65-F5344CB8AC3E}">
        <p14:creationId xmlns:p14="http://schemas.microsoft.com/office/powerpoint/2010/main" val="27043912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641</Words>
  <Application>Microsoft Office PowerPoint</Application>
  <PresentationFormat>Panorámica</PresentationFormat>
  <Paragraphs>51</Paragraphs>
  <Slides>19</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Aptos</vt:lpstr>
      <vt:lpstr>Aptos Display</vt:lpstr>
      <vt:lpstr>Arial</vt:lpstr>
      <vt:lpstr>Century Gothic</vt:lpstr>
      <vt:lpstr>Tema de Office</vt:lpstr>
      <vt:lpstr>Presentación de PowerPoint</vt:lpstr>
      <vt:lpstr>INTRODUCCION </vt:lpstr>
      <vt:lpstr>JUSTIFICACION </vt:lpstr>
      <vt:lpstr>1. Comience ejecutando el archivo de instalación haciendo doble clic en él.</vt:lpstr>
      <vt:lpstr>2. En nuestra segunda ventana aceptaremos el acuerdo de licencia y seleccione next</vt:lpstr>
      <vt:lpstr>3. Continuaremos el inicio de instalación dando click en install</vt:lpstr>
      <vt:lpstr>4. Comenzo la instalación de PgAdmin</vt:lpstr>
      <vt:lpstr>5. Con esta siguiente pantalla finaliza la instalacion</vt:lpstr>
      <vt:lpstr>Y ENTRAMOS A PGADMIN</vt:lpstr>
      <vt:lpstr>Realizamos nuestro servidor donde trabajaremos nuestra base de datos, damos click derecho en service-register-server</vt:lpstr>
      <vt:lpstr>Rellenamos el parámetro name de la siguiente manera</vt:lpstr>
      <vt:lpstr>Comenzamos creando nuestra primer base de datos dando click derecho y nos dirijimos a créate y damos click en database</vt:lpstr>
      <vt:lpstr>Le colocaremos nombre a nuestra base de datos y se llamara prueba 1 y damos click en save</vt:lpstr>
      <vt:lpstr>Enseguida nos adentramos dentro de base de datos buscando prueba1 Donde crearemos nuestras tabla llamada usuario</vt:lpstr>
      <vt:lpstr>Nos dirijimos a la segunda sección columms donde agregaremos los siguientes datos, continuando nos vamos a constraints  y agregamos lo que se presenta en las imágenes y guardamos en save  y quedaría nuestra primer tabla</vt:lpstr>
      <vt:lpstr>Despues nos dirijimos a nuestra tabla usuarios click derecho y seleccionamos view/edit Data y después a All Rows, en seguida se nos presentara en la parte baja nuestra tabla y realizaremos registros</vt:lpstr>
      <vt:lpstr>Y así es como quedaría el registro de nuestra tabla usuarios</vt:lpstr>
      <vt:lpstr>CONCLUSION </vt:lpstr>
      <vt:lpstr>ANEXO LINK DE LA ACTIVIDAD SOLICITADA Y ENVIADA POR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6</cp:revision>
  <dcterms:created xsi:type="dcterms:W3CDTF">2026-04-27T19:10:42Z</dcterms:created>
  <dcterms:modified xsi:type="dcterms:W3CDTF">2026-05-04T03:31:23Z</dcterms:modified>
</cp:coreProperties>
</file>